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HK Grotesk Italics" charset="1" panose="00000500000000000000"/>
      <p:regular r:id="rId28"/>
    </p:embeddedFont>
    <p:embeddedFont>
      <p:font typeface="Glacial Indifference" charset="1" panose="00000000000000000000"/>
      <p:regular r:id="rId29"/>
    </p:embeddedFont>
    <p:embeddedFont>
      <p:font typeface="Anton" charset="1" panose="00000500000000000000"/>
      <p:regular r:id="rId30"/>
    </p:embeddedFont>
    <p:embeddedFont>
      <p:font typeface="Raleway" charset="1" panose="00000000000000000000"/>
      <p:regular r:id="rId31"/>
    </p:embeddedFont>
    <p:embeddedFont>
      <p:font typeface="Raleway Bold" charset="1" panose="00000000000000000000"/>
      <p:regular r:id="rId32"/>
    </p:embeddedFont>
    <p:embeddedFont>
      <p:font typeface="Glacial Indifference Bold" charset="1" panose="000008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 Id="rId5"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png" Type="http://schemas.openxmlformats.org/officeDocument/2006/relationships/image"/><Relationship Id="rId5" Target="../media/image17.png" Type="http://schemas.openxmlformats.org/officeDocument/2006/relationships/image"/><Relationship Id="rId6" Target="../media/image2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 Id="rId5"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153663" y="150190"/>
            <a:ext cx="11720441" cy="9961301"/>
          </a:xfrm>
          <a:custGeom>
            <a:avLst/>
            <a:gdLst/>
            <a:ahLst/>
            <a:cxnLst/>
            <a:rect r="r" b="b" t="t" l="l"/>
            <a:pathLst>
              <a:path h="9961301" w="11720441">
                <a:moveTo>
                  <a:pt x="0" y="0"/>
                </a:moveTo>
                <a:lnTo>
                  <a:pt x="11720442" y="0"/>
                </a:lnTo>
                <a:lnTo>
                  <a:pt x="11720442" y="9961301"/>
                </a:lnTo>
                <a:lnTo>
                  <a:pt x="0" y="9961301"/>
                </a:lnTo>
                <a:lnTo>
                  <a:pt x="0" y="0"/>
                </a:lnTo>
                <a:close/>
              </a:path>
            </a:pathLst>
          </a:custGeom>
          <a:blipFill>
            <a:blip r:embed="rId2"/>
            <a:stretch>
              <a:fillRect l="-514" t="0" r="-514" b="0"/>
            </a:stretch>
          </a:blipFill>
        </p:spPr>
      </p:sp>
      <p:sp>
        <p:nvSpPr>
          <p:cNvPr name="Freeform 3" id="3"/>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3091183" y="993051"/>
            <a:ext cx="1764217" cy="1731627"/>
            <a:chOff x="0" y="0"/>
            <a:chExt cx="828097" cy="812800"/>
          </a:xfrm>
        </p:grpSpPr>
        <p:sp>
          <p:nvSpPr>
            <p:cNvPr name="Freeform 5" id="5"/>
            <p:cNvSpPr/>
            <p:nvPr/>
          </p:nvSpPr>
          <p:spPr>
            <a:xfrm flipH="false" flipV="false" rot="0">
              <a:off x="0" y="0"/>
              <a:ext cx="828097" cy="812800"/>
            </a:xfrm>
            <a:custGeom>
              <a:avLst/>
              <a:gdLst/>
              <a:ahLst/>
              <a:cxnLst/>
              <a:rect r="r" b="b" t="t" l="l"/>
              <a:pathLst>
                <a:path h="812800" w="828097">
                  <a:moveTo>
                    <a:pt x="100931" y="0"/>
                  </a:moveTo>
                  <a:lnTo>
                    <a:pt x="727166" y="0"/>
                  </a:lnTo>
                  <a:cubicBezTo>
                    <a:pt x="782909" y="0"/>
                    <a:pt x="828097" y="45188"/>
                    <a:pt x="828097" y="100931"/>
                  </a:cubicBezTo>
                  <a:lnTo>
                    <a:pt x="828097" y="711869"/>
                  </a:lnTo>
                  <a:cubicBezTo>
                    <a:pt x="828097" y="767612"/>
                    <a:pt x="782909" y="812800"/>
                    <a:pt x="727166" y="812800"/>
                  </a:cubicBezTo>
                  <a:lnTo>
                    <a:pt x="100931" y="812800"/>
                  </a:lnTo>
                  <a:cubicBezTo>
                    <a:pt x="45188" y="812800"/>
                    <a:pt x="0" y="767612"/>
                    <a:pt x="0" y="711869"/>
                  </a:cubicBezTo>
                  <a:lnTo>
                    <a:pt x="0" y="100931"/>
                  </a:lnTo>
                  <a:cubicBezTo>
                    <a:pt x="0" y="45188"/>
                    <a:pt x="45188" y="0"/>
                    <a:pt x="100931" y="0"/>
                  </a:cubicBezTo>
                  <a:close/>
                </a:path>
              </a:pathLst>
            </a:custGeom>
            <a:blipFill>
              <a:blip r:embed="rId5"/>
              <a:stretch>
                <a:fillRect l="-15519" t="0" r="-15519" b="0"/>
              </a:stretch>
            </a:blipFill>
          </p:spPr>
        </p:sp>
      </p:grpSp>
      <p:grpSp>
        <p:nvGrpSpPr>
          <p:cNvPr name="Group 6" id="6"/>
          <p:cNvGrpSpPr/>
          <p:nvPr/>
        </p:nvGrpSpPr>
        <p:grpSpPr>
          <a:xfrm rot="0">
            <a:off x="13897676" y="1028700"/>
            <a:ext cx="1695978" cy="16959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04992" y="0"/>
                  </a:moveTo>
                  <a:lnTo>
                    <a:pt x="707808" y="0"/>
                  </a:lnTo>
                  <a:cubicBezTo>
                    <a:pt x="735654" y="0"/>
                    <a:pt x="762359" y="11062"/>
                    <a:pt x="782049" y="30751"/>
                  </a:cubicBezTo>
                  <a:cubicBezTo>
                    <a:pt x="801738" y="50441"/>
                    <a:pt x="812800" y="77146"/>
                    <a:pt x="812800" y="104992"/>
                  </a:cubicBezTo>
                  <a:lnTo>
                    <a:pt x="812800" y="707808"/>
                  </a:lnTo>
                  <a:cubicBezTo>
                    <a:pt x="812800" y="735654"/>
                    <a:pt x="801738" y="762359"/>
                    <a:pt x="782049" y="782049"/>
                  </a:cubicBezTo>
                  <a:cubicBezTo>
                    <a:pt x="762359" y="801738"/>
                    <a:pt x="735654" y="812800"/>
                    <a:pt x="707808" y="812800"/>
                  </a:cubicBezTo>
                  <a:lnTo>
                    <a:pt x="104992" y="812800"/>
                  </a:lnTo>
                  <a:cubicBezTo>
                    <a:pt x="77146" y="812800"/>
                    <a:pt x="50441" y="801738"/>
                    <a:pt x="30751" y="782049"/>
                  </a:cubicBezTo>
                  <a:cubicBezTo>
                    <a:pt x="11062" y="762359"/>
                    <a:pt x="0" y="735654"/>
                    <a:pt x="0" y="707808"/>
                  </a:cubicBezTo>
                  <a:lnTo>
                    <a:pt x="0" y="104992"/>
                  </a:lnTo>
                  <a:cubicBezTo>
                    <a:pt x="0" y="77146"/>
                    <a:pt x="11062" y="50441"/>
                    <a:pt x="30751" y="30751"/>
                  </a:cubicBezTo>
                  <a:cubicBezTo>
                    <a:pt x="50441" y="11062"/>
                    <a:pt x="77146" y="0"/>
                    <a:pt x="104992" y="0"/>
                  </a:cubicBezTo>
                  <a:close/>
                </a:path>
              </a:pathLst>
            </a:custGeom>
            <a:blipFill>
              <a:blip r:embed="rId6"/>
              <a:stretch>
                <a:fillRect l="-1310" t="0" r="-1310" b="0"/>
              </a:stretch>
            </a:blipFill>
          </p:spPr>
        </p:sp>
      </p:grpSp>
      <p:sp>
        <p:nvSpPr>
          <p:cNvPr name="TextBox 8" id="8"/>
          <p:cNvSpPr txBox="true"/>
          <p:nvPr/>
        </p:nvSpPr>
        <p:spPr>
          <a:xfrm rot="0">
            <a:off x="4855399" y="962025"/>
            <a:ext cx="9315756" cy="2257425"/>
          </a:xfrm>
          <a:prstGeom prst="rect">
            <a:avLst/>
          </a:prstGeom>
        </p:spPr>
        <p:txBody>
          <a:bodyPr anchor="t" rtlCol="false" tIns="0" lIns="0" bIns="0" rIns="0">
            <a:spAutoFit/>
          </a:bodyPr>
          <a:lstStyle/>
          <a:p>
            <a:pPr algn="ctr">
              <a:lnSpc>
                <a:spcPts val="4200"/>
              </a:lnSpc>
            </a:pPr>
            <a:r>
              <a:rPr lang="en-US" sz="3000" i="true">
                <a:solidFill>
                  <a:srgbClr val="FDFDFD"/>
                </a:solidFill>
                <a:latin typeface="HK Grotesk Italics"/>
                <a:ea typeface="HK Grotesk Italics"/>
                <a:cs typeface="HK Grotesk Italics"/>
                <a:sym typeface="HK Grotesk Italics"/>
              </a:rPr>
              <a:t>K.RAMAKRISHNAN COLLEGE OF ENGINEERING </a:t>
            </a:r>
          </a:p>
          <a:p>
            <a:pPr algn="ctr">
              <a:lnSpc>
                <a:spcPts val="4200"/>
              </a:lnSpc>
            </a:pPr>
            <a:r>
              <a:rPr lang="en-US" sz="3000" i="true">
                <a:solidFill>
                  <a:srgbClr val="FDFDFD"/>
                </a:solidFill>
                <a:latin typeface="HK Grotesk Italics"/>
                <a:ea typeface="HK Grotesk Italics"/>
                <a:cs typeface="HK Grotesk Italics"/>
                <a:sym typeface="HK Grotesk Italics"/>
              </a:rPr>
              <a:t>An Autonomous Institution</a:t>
            </a:r>
          </a:p>
          <a:p>
            <a:pPr algn="ctr">
              <a:lnSpc>
                <a:spcPts val="2660"/>
              </a:lnSpc>
            </a:pPr>
            <a:r>
              <a:rPr lang="en-US" sz="1900" i="true">
                <a:solidFill>
                  <a:srgbClr val="A6A6A6"/>
                </a:solidFill>
                <a:latin typeface="HK Grotesk Italics"/>
                <a:ea typeface="HK Grotesk Italics"/>
                <a:cs typeface="HK Grotesk Italics"/>
                <a:sym typeface="HK Grotesk Italics"/>
              </a:rPr>
              <a:t>Permanently affiliated to ANNA University Chennai, Approved by AICTE New Delhi,</a:t>
            </a:r>
          </a:p>
          <a:p>
            <a:pPr algn="ctr">
              <a:lnSpc>
                <a:spcPts val="2660"/>
              </a:lnSpc>
            </a:pPr>
            <a:r>
              <a:rPr lang="en-US" sz="1900" i="true">
                <a:solidFill>
                  <a:srgbClr val="A6A6A6"/>
                </a:solidFill>
                <a:latin typeface="HK Grotesk Italics"/>
                <a:ea typeface="HK Grotesk Italics"/>
                <a:cs typeface="HK Grotesk Italics"/>
                <a:sym typeface="HK Grotesk Italics"/>
              </a:rPr>
              <a:t>Accredited By NBA and with A Grade by NAAC </a:t>
            </a:r>
          </a:p>
          <a:p>
            <a:pPr algn="ctr">
              <a:lnSpc>
                <a:spcPts val="4200"/>
              </a:lnSpc>
            </a:pPr>
          </a:p>
        </p:txBody>
      </p:sp>
      <p:sp>
        <p:nvSpPr>
          <p:cNvPr name="AutoShape 9" id="9"/>
          <p:cNvSpPr/>
          <p:nvPr/>
        </p:nvSpPr>
        <p:spPr>
          <a:xfrm>
            <a:off x="6129086" y="1543881"/>
            <a:ext cx="6492240" cy="0"/>
          </a:xfrm>
          <a:prstGeom prst="line">
            <a:avLst/>
          </a:prstGeom>
          <a:ln cap="flat" w="38100">
            <a:solidFill>
              <a:srgbClr val="FFFFFF"/>
            </a:solidFill>
            <a:prstDash val="solid"/>
            <a:headEnd type="none" len="sm" w="sm"/>
            <a:tailEnd type="none" len="sm" w="sm"/>
          </a:ln>
        </p:spPr>
      </p:sp>
      <p:sp>
        <p:nvSpPr>
          <p:cNvPr name="TextBox 10" id="10"/>
          <p:cNvSpPr txBox="true"/>
          <p:nvPr/>
        </p:nvSpPr>
        <p:spPr>
          <a:xfrm rot="0">
            <a:off x="1957956" y="4056354"/>
            <a:ext cx="14701936" cy="1687192"/>
          </a:xfrm>
          <a:prstGeom prst="rect">
            <a:avLst/>
          </a:prstGeom>
        </p:spPr>
        <p:txBody>
          <a:bodyPr anchor="t" rtlCol="false" tIns="0" lIns="0" bIns="0" rIns="0">
            <a:spAutoFit/>
          </a:bodyPr>
          <a:lstStyle/>
          <a:p>
            <a:pPr algn="ctr">
              <a:lnSpc>
                <a:spcPts val="6755"/>
              </a:lnSpc>
              <a:spcBef>
                <a:spcPct val="0"/>
              </a:spcBef>
            </a:pPr>
            <a:r>
              <a:rPr lang="en-US" sz="4825">
                <a:solidFill>
                  <a:srgbClr val="FFFFFF"/>
                </a:solidFill>
                <a:latin typeface="Glacial Indifference"/>
                <a:ea typeface="Glacial Indifference"/>
                <a:cs typeface="Glacial Indifference"/>
                <a:sym typeface="Glacial Indifference"/>
              </a:rPr>
              <a:t>AI TRISM : TRUST,RISK AND SECURITY MANAGEMENT   IN ARTIFICIAL INTELLIGENCE</a:t>
            </a:r>
          </a:p>
        </p:txBody>
      </p:sp>
      <p:sp>
        <p:nvSpPr>
          <p:cNvPr name="TextBox 11" id="11"/>
          <p:cNvSpPr txBox="true"/>
          <p:nvPr/>
        </p:nvSpPr>
        <p:spPr>
          <a:xfrm rot="0">
            <a:off x="2407377" y="6599501"/>
            <a:ext cx="13473247" cy="646430"/>
          </a:xfrm>
          <a:prstGeom prst="rect">
            <a:avLst/>
          </a:prstGeom>
        </p:spPr>
        <p:txBody>
          <a:bodyPr anchor="t" rtlCol="false" tIns="0" lIns="0" bIns="0" rIns="0">
            <a:spAutoFit/>
          </a:bodyPr>
          <a:lstStyle/>
          <a:p>
            <a:pPr algn="ctr">
              <a:lnSpc>
                <a:spcPts val="5319"/>
              </a:lnSpc>
            </a:pPr>
            <a:r>
              <a:rPr lang="en-US" sz="3799">
                <a:solidFill>
                  <a:srgbClr val="FFFFFF"/>
                </a:solidFill>
                <a:latin typeface="Glacial Indifference"/>
                <a:ea typeface="Glacial Indifference"/>
                <a:cs typeface="Glacial Indifference"/>
                <a:sym typeface="Glacial Indifference"/>
              </a:rPr>
              <a:t>DEPT : Computer Science And Business Systems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72350" y="1940108"/>
            <a:ext cx="11589850" cy="2119101"/>
          </a:xfrm>
          <a:custGeom>
            <a:avLst/>
            <a:gdLst/>
            <a:ahLst/>
            <a:cxnLst/>
            <a:rect r="r" b="b" t="t" l="l"/>
            <a:pathLst>
              <a:path h="2119101" w="11589850">
                <a:moveTo>
                  <a:pt x="0" y="0"/>
                </a:moveTo>
                <a:lnTo>
                  <a:pt x="11589850" y="0"/>
                </a:lnTo>
                <a:lnTo>
                  <a:pt x="11589850" y="2119100"/>
                </a:lnTo>
                <a:lnTo>
                  <a:pt x="0" y="2119100"/>
                </a:lnTo>
                <a:lnTo>
                  <a:pt x="0" y="0"/>
                </a:lnTo>
                <a:close/>
              </a:path>
            </a:pathLst>
          </a:custGeom>
          <a:blipFill>
            <a:blip r:embed="rId4"/>
            <a:stretch>
              <a:fillRect l="0" t="0" r="0" b="0"/>
            </a:stretch>
          </a:blipFill>
        </p:spPr>
      </p:sp>
      <p:sp>
        <p:nvSpPr>
          <p:cNvPr name="Freeform 4" id="4"/>
          <p:cNvSpPr/>
          <p:nvPr/>
        </p:nvSpPr>
        <p:spPr>
          <a:xfrm flipH="false" flipV="false" rot="0">
            <a:off x="2882937" y="3127487"/>
            <a:ext cx="1471528" cy="1454974"/>
          </a:xfrm>
          <a:custGeom>
            <a:avLst/>
            <a:gdLst/>
            <a:ahLst/>
            <a:cxnLst/>
            <a:rect r="r" b="b" t="t" l="l"/>
            <a:pathLst>
              <a:path h="1454974" w="1471528">
                <a:moveTo>
                  <a:pt x="0" y="0"/>
                </a:moveTo>
                <a:lnTo>
                  <a:pt x="1471528" y="0"/>
                </a:lnTo>
                <a:lnTo>
                  <a:pt x="1471528" y="1454974"/>
                </a:lnTo>
                <a:lnTo>
                  <a:pt x="0" y="1454974"/>
                </a:lnTo>
                <a:lnTo>
                  <a:pt x="0" y="0"/>
                </a:lnTo>
                <a:close/>
              </a:path>
            </a:pathLst>
          </a:custGeom>
          <a:blipFill>
            <a:blip r:embed="rId5">
              <a:alphaModFix amt="29000"/>
            </a:blip>
            <a:stretch>
              <a:fillRect l="0" t="0" r="0" b="0"/>
            </a:stretch>
          </a:blipFill>
        </p:spPr>
      </p:sp>
      <p:sp>
        <p:nvSpPr>
          <p:cNvPr name="TextBox 5" id="5"/>
          <p:cNvSpPr txBox="true"/>
          <p:nvPr/>
        </p:nvSpPr>
        <p:spPr>
          <a:xfrm rot="0">
            <a:off x="4300907" y="2553111"/>
            <a:ext cx="10132737" cy="969295"/>
          </a:xfrm>
          <a:prstGeom prst="rect">
            <a:avLst/>
          </a:prstGeom>
        </p:spPr>
        <p:txBody>
          <a:bodyPr anchor="t" rtlCol="false" tIns="0" lIns="0" bIns="0" rIns="0">
            <a:spAutoFit/>
          </a:bodyPr>
          <a:lstStyle/>
          <a:p>
            <a:pPr algn="ctr">
              <a:lnSpc>
                <a:spcPts val="7485"/>
              </a:lnSpc>
            </a:pPr>
            <a:r>
              <a:rPr lang="en-US" sz="6867">
                <a:solidFill>
                  <a:srgbClr val="FFFFFF"/>
                </a:solidFill>
                <a:latin typeface="Anton"/>
                <a:ea typeface="Anton"/>
                <a:cs typeface="Anton"/>
                <a:sym typeface="Anton"/>
              </a:rPr>
              <a:t>BATCH 06</a:t>
            </a:r>
          </a:p>
        </p:txBody>
      </p:sp>
      <p:sp>
        <p:nvSpPr>
          <p:cNvPr name="Freeform 6" id="6"/>
          <p:cNvSpPr/>
          <p:nvPr/>
        </p:nvSpPr>
        <p:spPr>
          <a:xfrm flipH="false" flipV="false" rot="0">
            <a:off x="14380085" y="1268003"/>
            <a:ext cx="1471528" cy="1454974"/>
          </a:xfrm>
          <a:custGeom>
            <a:avLst/>
            <a:gdLst/>
            <a:ahLst/>
            <a:cxnLst/>
            <a:rect r="r" b="b" t="t" l="l"/>
            <a:pathLst>
              <a:path h="1454974" w="1471528">
                <a:moveTo>
                  <a:pt x="0" y="0"/>
                </a:moveTo>
                <a:lnTo>
                  <a:pt x="1471529" y="0"/>
                </a:lnTo>
                <a:lnTo>
                  <a:pt x="1471529" y="1454973"/>
                </a:lnTo>
                <a:lnTo>
                  <a:pt x="0" y="1454973"/>
                </a:lnTo>
                <a:lnTo>
                  <a:pt x="0" y="0"/>
                </a:lnTo>
                <a:close/>
              </a:path>
            </a:pathLst>
          </a:custGeom>
          <a:blipFill>
            <a:blip r:embed="rId5">
              <a:alphaModFix amt="29000"/>
            </a:blip>
            <a:stretch>
              <a:fillRect l="0" t="0" r="0" b="0"/>
            </a:stretch>
          </a:blipFill>
        </p:spPr>
      </p:sp>
      <p:sp>
        <p:nvSpPr>
          <p:cNvPr name="Freeform 7" id="7"/>
          <p:cNvSpPr/>
          <p:nvPr/>
        </p:nvSpPr>
        <p:spPr>
          <a:xfrm flipH="false" flipV="false" rot="0">
            <a:off x="15344434" y="5683897"/>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
        <p:nvSpPr>
          <p:cNvPr name="TextBox 8" id="8"/>
          <p:cNvSpPr txBox="true"/>
          <p:nvPr/>
        </p:nvSpPr>
        <p:spPr>
          <a:xfrm rot="0">
            <a:off x="2635551" y="4668850"/>
            <a:ext cx="13463449" cy="3723018"/>
          </a:xfrm>
          <a:prstGeom prst="rect">
            <a:avLst/>
          </a:prstGeom>
        </p:spPr>
        <p:txBody>
          <a:bodyPr anchor="t" rtlCol="false" tIns="0" lIns="0" bIns="0" rIns="0">
            <a:spAutoFit/>
          </a:bodyPr>
          <a:lstStyle/>
          <a:p>
            <a:pPr algn="just">
              <a:lnSpc>
                <a:spcPts val="4269"/>
              </a:lnSpc>
            </a:pPr>
          </a:p>
          <a:p>
            <a:pPr algn="just">
              <a:lnSpc>
                <a:spcPts val="4269"/>
              </a:lnSpc>
            </a:pPr>
            <a:r>
              <a:rPr lang="en-US" sz="3049">
                <a:solidFill>
                  <a:srgbClr val="FFFFFF"/>
                </a:solidFill>
                <a:latin typeface="Raleway"/>
                <a:ea typeface="Raleway"/>
                <a:cs typeface="Raleway"/>
                <a:sym typeface="Raleway"/>
              </a:rPr>
              <a:t>     </a:t>
            </a:r>
            <a:r>
              <a:rPr lang="en-US" sz="3049" b="true">
                <a:solidFill>
                  <a:srgbClr val="FFFFFF"/>
                </a:solidFill>
                <a:latin typeface="Raleway Bold"/>
                <a:ea typeface="Raleway Bold"/>
                <a:cs typeface="Raleway Bold"/>
                <a:sym typeface="Raleway Bold"/>
              </a:rPr>
              <a:t> PRESENTED  BY :  </a:t>
            </a:r>
            <a:r>
              <a:rPr lang="en-US" sz="3049">
                <a:solidFill>
                  <a:srgbClr val="FFFFFF"/>
                </a:solidFill>
                <a:latin typeface="Raleway"/>
                <a:ea typeface="Raleway"/>
                <a:cs typeface="Raleway"/>
                <a:sym typeface="Raleway"/>
              </a:rPr>
              <a:t> </a:t>
            </a:r>
          </a:p>
          <a:p>
            <a:pPr algn="just">
              <a:lnSpc>
                <a:spcPts val="4269"/>
              </a:lnSpc>
            </a:pPr>
            <a:r>
              <a:rPr lang="en-US" sz="3049">
                <a:solidFill>
                  <a:srgbClr val="FFFFFF"/>
                </a:solidFill>
                <a:latin typeface="Raleway"/>
                <a:ea typeface="Raleway"/>
                <a:cs typeface="Raleway"/>
                <a:sym typeface="Raleway"/>
              </a:rPr>
              <a:t>                                           ARTHY M (8115U22CB007)</a:t>
            </a:r>
          </a:p>
          <a:p>
            <a:pPr algn="just">
              <a:lnSpc>
                <a:spcPts val="4269"/>
              </a:lnSpc>
            </a:pPr>
            <a:r>
              <a:rPr lang="en-US" sz="3049">
                <a:solidFill>
                  <a:srgbClr val="FFFFFF"/>
                </a:solidFill>
                <a:latin typeface="Raleway"/>
                <a:ea typeface="Raleway"/>
                <a:cs typeface="Raleway"/>
                <a:sym typeface="Raleway"/>
              </a:rPr>
              <a:t>                                           REENA S (8115U22CB044)</a:t>
            </a:r>
          </a:p>
          <a:p>
            <a:pPr algn="just">
              <a:lnSpc>
                <a:spcPts val="4269"/>
              </a:lnSpc>
            </a:pPr>
            <a:r>
              <a:rPr lang="en-US" sz="3049">
                <a:solidFill>
                  <a:srgbClr val="FFFFFF"/>
                </a:solidFill>
                <a:latin typeface="Raleway"/>
                <a:ea typeface="Raleway"/>
                <a:cs typeface="Raleway"/>
                <a:sym typeface="Raleway"/>
              </a:rPr>
              <a:t>                                           SHREE HARINI S (8115U22CB050)</a:t>
            </a:r>
          </a:p>
          <a:p>
            <a:pPr algn="just">
              <a:lnSpc>
                <a:spcPts val="4269"/>
              </a:lnSpc>
            </a:pPr>
            <a:r>
              <a:rPr lang="en-US" sz="3049">
                <a:solidFill>
                  <a:srgbClr val="FFFFFF"/>
                </a:solidFill>
                <a:latin typeface="Raleway"/>
                <a:ea typeface="Raleway"/>
                <a:cs typeface="Raleway"/>
                <a:sym typeface="Raleway"/>
              </a:rPr>
              <a:t>                                           SOUNDARYA AL (8115U22CB052)</a:t>
            </a:r>
          </a:p>
          <a:p>
            <a:pPr algn="just">
              <a:lnSpc>
                <a:spcPts val="4269"/>
              </a:lnSpc>
              <a:spcBef>
                <a:spcPct val="0"/>
              </a:spcBef>
            </a:pPr>
          </a:p>
        </p:txBody>
      </p:sp>
      <p:sp>
        <p:nvSpPr>
          <p:cNvPr name="Freeform 9" id="9"/>
          <p:cNvSpPr/>
          <p:nvPr/>
        </p:nvSpPr>
        <p:spPr>
          <a:xfrm flipH="false" flipV="false" rot="0">
            <a:off x="-886166" y="1940108"/>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72350" y="1940108"/>
            <a:ext cx="11589850" cy="2119101"/>
          </a:xfrm>
          <a:custGeom>
            <a:avLst/>
            <a:gdLst/>
            <a:ahLst/>
            <a:cxnLst/>
            <a:rect r="r" b="b" t="t" l="l"/>
            <a:pathLst>
              <a:path h="2119101" w="11589850">
                <a:moveTo>
                  <a:pt x="0" y="0"/>
                </a:moveTo>
                <a:lnTo>
                  <a:pt x="11589850" y="0"/>
                </a:lnTo>
                <a:lnTo>
                  <a:pt x="11589850" y="2119100"/>
                </a:lnTo>
                <a:lnTo>
                  <a:pt x="0" y="2119100"/>
                </a:lnTo>
                <a:lnTo>
                  <a:pt x="0" y="0"/>
                </a:lnTo>
                <a:close/>
              </a:path>
            </a:pathLst>
          </a:custGeom>
          <a:blipFill>
            <a:blip r:embed="rId4"/>
            <a:stretch>
              <a:fillRect l="0" t="0" r="0" b="0"/>
            </a:stretch>
          </a:blipFill>
        </p:spPr>
      </p:sp>
      <p:sp>
        <p:nvSpPr>
          <p:cNvPr name="Freeform 4" id="4"/>
          <p:cNvSpPr/>
          <p:nvPr/>
        </p:nvSpPr>
        <p:spPr>
          <a:xfrm flipH="false" flipV="false" rot="0">
            <a:off x="2882937" y="3127487"/>
            <a:ext cx="1471528" cy="1454974"/>
          </a:xfrm>
          <a:custGeom>
            <a:avLst/>
            <a:gdLst/>
            <a:ahLst/>
            <a:cxnLst/>
            <a:rect r="r" b="b" t="t" l="l"/>
            <a:pathLst>
              <a:path h="1454974" w="1471528">
                <a:moveTo>
                  <a:pt x="0" y="0"/>
                </a:moveTo>
                <a:lnTo>
                  <a:pt x="1471528" y="0"/>
                </a:lnTo>
                <a:lnTo>
                  <a:pt x="1471528" y="1454974"/>
                </a:lnTo>
                <a:lnTo>
                  <a:pt x="0" y="1454974"/>
                </a:lnTo>
                <a:lnTo>
                  <a:pt x="0" y="0"/>
                </a:lnTo>
                <a:close/>
              </a:path>
            </a:pathLst>
          </a:custGeom>
          <a:blipFill>
            <a:blip r:embed="rId5">
              <a:alphaModFix amt="29000"/>
            </a:blip>
            <a:stretch>
              <a:fillRect l="0" t="0" r="0" b="0"/>
            </a:stretch>
          </a:blipFill>
        </p:spPr>
      </p:sp>
      <p:sp>
        <p:nvSpPr>
          <p:cNvPr name="TextBox 5" id="5"/>
          <p:cNvSpPr txBox="true"/>
          <p:nvPr/>
        </p:nvSpPr>
        <p:spPr>
          <a:xfrm rot="0">
            <a:off x="4300907" y="2553111"/>
            <a:ext cx="10132737" cy="969295"/>
          </a:xfrm>
          <a:prstGeom prst="rect">
            <a:avLst/>
          </a:prstGeom>
        </p:spPr>
        <p:txBody>
          <a:bodyPr anchor="t" rtlCol="false" tIns="0" lIns="0" bIns="0" rIns="0">
            <a:spAutoFit/>
          </a:bodyPr>
          <a:lstStyle/>
          <a:p>
            <a:pPr algn="ctr">
              <a:lnSpc>
                <a:spcPts val="7485"/>
              </a:lnSpc>
            </a:pPr>
            <a:r>
              <a:rPr lang="en-US" sz="6867">
                <a:solidFill>
                  <a:srgbClr val="FFFFFF"/>
                </a:solidFill>
                <a:latin typeface="Anton"/>
                <a:ea typeface="Anton"/>
                <a:cs typeface="Anton"/>
                <a:sym typeface="Anton"/>
              </a:rPr>
              <a:t> INTRODUCTION TO AI</a:t>
            </a:r>
          </a:p>
        </p:txBody>
      </p:sp>
      <p:sp>
        <p:nvSpPr>
          <p:cNvPr name="Freeform 6" id="6"/>
          <p:cNvSpPr/>
          <p:nvPr/>
        </p:nvSpPr>
        <p:spPr>
          <a:xfrm flipH="false" flipV="false" rot="0">
            <a:off x="14380085" y="1268003"/>
            <a:ext cx="1471528" cy="1454974"/>
          </a:xfrm>
          <a:custGeom>
            <a:avLst/>
            <a:gdLst/>
            <a:ahLst/>
            <a:cxnLst/>
            <a:rect r="r" b="b" t="t" l="l"/>
            <a:pathLst>
              <a:path h="1454974" w="1471528">
                <a:moveTo>
                  <a:pt x="0" y="0"/>
                </a:moveTo>
                <a:lnTo>
                  <a:pt x="1471529" y="0"/>
                </a:lnTo>
                <a:lnTo>
                  <a:pt x="1471529" y="1454973"/>
                </a:lnTo>
                <a:lnTo>
                  <a:pt x="0" y="1454973"/>
                </a:lnTo>
                <a:lnTo>
                  <a:pt x="0" y="0"/>
                </a:lnTo>
                <a:close/>
              </a:path>
            </a:pathLst>
          </a:custGeom>
          <a:blipFill>
            <a:blip r:embed="rId5">
              <a:alphaModFix amt="29000"/>
            </a:blip>
            <a:stretch>
              <a:fillRect l="0" t="0" r="0" b="0"/>
            </a:stretch>
          </a:blipFill>
        </p:spPr>
      </p:sp>
      <p:sp>
        <p:nvSpPr>
          <p:cNvPr name="Freeform 7" id="7"/>
          <p:cNvSpPr/>
          <p:nvPr/>
        </p:nvSpPr>
        <p:spPr>
          <a:xfrm flipH="false" flipV="false" rot="0">
            <a:off x="15344434" y="5683897"/>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
        <p:nvSpPr>
          <p:cNvPr name="TextBox 8" id="8"/>
          <p:cNvSpPr txBox="true"/>
          <p:nvPr/>
        </p:nvSpPr>
        <p:spPr>
          <a:xfrm rot="0">
            <a:off x="2635551" y="4668850"/>
            <a:ext cx="13463449" cy="3723018"/>
          </a:xfrm>
          <a:prstGeom prst="rect">
            <a:avLst/>
          </a:prstGeom>
        </p:spPr>
        <p:txBody>
          <a:bodyPr anchor="t" rtlCol="false" tIns="0" lIns="0" bIns="0" rIns="0">
            <a:spAutoFit/>
          </a:bodyPr>
          <a:lstStyle/>
          <a:p>
            <a:pPr algn="just">
              <a:lnSpc>
                <a:spcPts val="4269"/>
              </a:lnSpc>
              <a:spcBef>
                <a:spcPct val="0"/>
              </a:spcBef>
            </a:pPr>
            <a:r>
              <a:rPr lang="en-US" sz="3049">
                <a:solidFill>
                  <a:srgbClr val="FFFFFF"/>
                </a:solidFill>
                <a:latin typeface="Raleway"/>
                <a:ea typeface="Raleway"/>
                <a:cs typeface="Raleway"/>
                <a:sym typeface="Raleway"/>
              </a:rPr>
              <a:t>Artificial Intelligence, or AI, is the ability of machines to mimic human intelligence. It involves creating systems that can learn from data, recognize patterns, make decisions, and improve over time. AI is used in everyday applications like voice assistants, recommendation engines, and autonomous vehicles. Its goal is to perform tasks that typically require human intelligence, helping improve accuracy, speed, and efficiency across industries.</a:t>
            </a:r>
          </a:p>
        </p:txBody>
      </p:sp>
      <p:sp>
        <p:nvSpPr>
          <p:cNvPr name="Freeform 9" id="9"/>
          <p:cNvSpPr/>
          <p:nvPr/>
        </p:nvSpPr>
        <p:spPr>
          <a:xfrm flipH="false" flipV="false" rot="0">
            <a:off x="-886166" y="1940108"/>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176985" y="438807"/>
            <a:ext cx="10871723" cy="9425298"/>
          </a:xfrm>
          <a:custGeom>
            <a:avLst/>
            <a:gdLst/>
            <a:ahLst/>
            <a:cxnLst/>
            <a:rect r="r" b="b" t="t" l="l"/>
            <a:pathLst>
              <a:path h="9425298" w="10871723">
                <a:moveTo>
                  <a:pt x="0" y="0"/>
                </a:moveTo>
                <a:lnTo>
                  <a:pt x="10871724" y="0"/>
                </a:lnTo>
                <a:lnTo>
                  <a:pt x="10871724" y="9425298"/>
                </a:lnTo>
                <a:lnTo>
                  <a:pt x="0" y="9425298"/>
                </a:lnTo>
                <a:lnTo>
                  <a:pt x="0" y="0"/>
                </a:lnTo>
                <a:close/>
              </a:path>
            </a:pathLst>
          </a:custGeom>
          <a:blipFill>
            <a:blip r:embed="rId2"/>
            <a:stretch>
              <a:fillRect l="-690" t="0" r="-2365" b="0"/>
            </a:stretch>
          </a:blipFill>
        </p:spPr>
      </p:sp>
      <p:sp>
        <p:nvSpPr>
          <p:cNvPr name="Freeform 3" id="3"/>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7892" y="2950019"/>
            <a:ext cx="3868413" cy="3942331"/>
          </a:xfrm>
          <a:custGeom>
            <a:avLst/>
            <a:gdLst/>
            <a:ahLst/>
            <a:cxnLst/>
            <a:rect r="r" b="b" t="t" l="l"/>
            <a:pathLst>
              <a:path h="3942331" w="3868413">
                <a:moveTo>
                  <a:pt x="0" y="0"/>
                </a:moveTo>
                <a:lnTo>
                  <a:pt x="3868413" y="0"/>
                </a:lnTo>
                <a:lnTo>
                  <a:pt x="3868413" y="3942331"/>
                </a:lnTo>
                <a:lnTo>
                  <a:pt x="0" y="3942331"/>
                </a:lnTo>
                <a:lnTo>
                  <a:pt x="0" y="0"/>
                </a:lnTo>
                <a:close/>
              </a:path>
            </a:pathLst>
          </a:custGeom>
          <a:blipFill>
            <a:blip r:embed="rId5">
              <a:alphaModFix amt="31999"/>
            </a:blip>
            <a:stretch>
              <a:fillRect l="0" t="0" r="0" b="0"/>
            </a:stretch>
          </a:blipFill>
        </p:spPr>
      </p:sp>
      <p:sp>
        <p:nvSpPr>
          <p:cNvPr name="TextBox 5" id="5"/>
          <p:cNvSpPr txBox="true"/>
          <p:nvPr/>
        </p:nvSpPr>
        <p:spPr>
          <a:xfrm rot="0">
            <a:off x="401448" y="4371632"/>
            <a:ext cx="6775537" cy="821055"/>
          </a:xfrm>
          <a:prstGeom prst="rect">
            <a:avLst/>
          </a:prstGeom>
        </p:spPr>
        <p:txBody>
          <a:bodyPr anchor="t" rtlCol="false" tIns="0" lIns="0" bIns="0" rIns="0">
            <a:spAutoFit/>
          </a:bodyPr>
          <a:lstStyle/>
          <a:p>
            <a:pPr algn="l">
              <a:lnSpc>
                <a:spcPts val="6719"/>
              </a:lnSpc>
              <a:spcBef>
                <a:spcPct val="0"/>
              </a:spcBef>
            </a:pPr>
            <a:r>
              <a:rPr lang="en-US" b="true" sz="4800">
                <a:solidFill>
                  <a:srgbClr val="FFFFFF"/>
                </a:solidFill>
                <a:latin typeface="Glacial Indifference Bold"/>
                <a:ea typeface="Glacial Indifference Bold"/>
                <a:cs typeface="Glacial Indifference Bold"/>
                <a:sym typeface="Glacial Indifference Bold"/>
              </a:rPr>
              <a:t>WHAT IS AI TRISM ? </a:t>
            </a:r>
          </a:p>
        </p:txBody>
      </p:sp>
      <p:sp>
        <p:nvSpPr>
          <p:cNvPr name="TextBox 6" id="6"/>
          <p:cNvSpPr txBox="true"/>
          <p:nvPr/>
        </p:nvSpPr>
        <p:spPr>
          <a:xfrm rot="0">
            <a:off x="8715261" y="2448554"/>
            <a:ext cx="8098594" cy="5323218"/>
          </a:xfrm>
          <a:prstGeom prst="rect">
            <a:avLst/>
          </a:prstGeom>
        </p:spPr>
        <p:txBody>
          <a:bodyPr anchor="t" rtlCol="false" tIns="0" lIns="0" bIns="0" rIns="0">
            <a:spAutoFit/>
          </a:bodyPr>
          <a:lstStyle/>
          <a:p>
            <a:pPr algn="just">
              <a:lnSpc>
                <a:spcPts val="4269"/>
              </a:lnSpc>
              <a:spcBef>
                <a:spcPct val="0"/>
              </a:spcBef>
            </a:pPr>
            <a:r>
              <a:rPr lang="en-US" sz="3049">
                <a:solidFill>
                  <a:srgbClr val="FFFFFF"/>
                </a:solidFill>
                <a:latin typeface="Raleway"/>
                <a:ea typeface="Raleway"/>
                <a:cs typeface="Raleway"/>
                <a:sym typeface="Raleway"/>
              </a:rPr>
              <a:t>AI trust, risk and security management (AI TRiSM) ensures AI governance, trustworthiness, fairness, reliability, robustness, efficacy and data protection. AI TRiSM includes solutions and techniques for model and application transparency, content anomaly detection, AI data protection, model and application monitoring and operations, adversarial attack resistance and AI application security.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2281" y="3950750"/>
            <a:ext cx="4929188" cy="4923026"/>
          </a:xfrm>
          <a:custGeom>
            <a:avLst/>
            <a:gdLst/>
            <a:ahLst/>
            <a:cxnLst/>
            <a:rect r="r" b="b" t="t" l="l"/>
            <a:pathLst>
              <a:path h="4923026" w="4929188">
                <a:moveTo>
                  <a:pt x="0" y="0"/>
                </a:moveTo>
                <a:lnTo>
                  <a:pt x="4929188" y="0"/>
                </a:lnTo>
                <a:lnTo>
                  <a:pt x="4929188" y="4923026"/>
                </a:lnTo>
                <a:lnTo>
                  <a:pt x="0" y="4923026"/>
                </a:lnTo>
                <a:lnTo>
                  <a:pt x="0" y="0"/>
                </a:lnTo>
                <a:close/>
              </a:path>
            </a:pathLst>
          </a:custGeom>
          <a:blipFill>
            <a:blip r:embed="rId4"/>
            <a:stretch>
              <a:fillRect l="0" t="0" r="0" b="0"/>
            </a:stretch>
          </a:blipFill>
        </p:spPr>
      </p:sp>
      <p:sp>
        <p:nvSpPr>
          <p:cNvPr name="Freeform 4" id="4"/>
          <p:cNvSpPr/>
          <p:nvPr/>
        </p:nvSpPr>
        <p:spPr>
          <a:xfrm flipH="false" flipV="false" rot="0">
            <a:off x="5604550" y="1454426"/>
            <a:ext cx="12241362" cy="7077733"/>
          </a:xfrm>
          <a:custGeom>
            <a:avLst/>
            <a:gdLst/>
            <a:ahLst/>
            <a:cxnLst/>
            <a:rect r="r" b="b" t="t" l="l"/>
            <a:pathLst>
              <a:path h="7077733" w="12241362">
                <a:moveTo>
                  <a:pt x="0" y="0"/>
                </a:moveTo>
                <a:lnTo>
                  <a:pt x="12241362" y="0"/>
                </a:lnTo>
                <a:lnTo>
                  <a:pt x="12241362" y="7077733"/>
                </a:lnTo>
                <a:lnTo>
                  <a:pt x="0" y="70777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3579165"/>
            <a:ext cx="4720159" cy="1794801"/>
          </a:xfrm>
          <a:prstGeom prst="rect">
            <a:avLst/>
          </a:prstGeom>
        </p:spPr>
        <p:txBody>
          <a:bodyPr anchor="t" rtlCol="false" tIns="0" lIns="0" bIns="0" rIns="0">
            <a:spAutoFit/>
          </a:bodyPr>
          <a:lstStyle/>
          <a:p>
            <a:pPr algn="l">
              <a:lnSpc>
                <a:spcPts val="7008"/>
              </a:lnSpc>
            </a:pPr>
            <a:r>
              <a:rPr lang="en-US" sz="6429">
                <a:solidFill>
                  <a:srgbClr val="FFFFFF"/>
                </a:solidFill>
                <a:latin typeface="Anton"/>
                <a:ea typeface="Anton"/>
                <a:cs typeface="Anton"/>
                <a:sym typeface="Anton"/>
              </a:rPr>
              <a:t>OBJECTIVES OF     AI TRISM</a:t>
            </a:r>
          </a:p>
        </p:txBody>
      </p:sp>
      <p:sp>
        <p:nvSpPr>
          <p:cNvPr name="TextBox 6" id="6"/>
          <p:cNvSpPr txBox="true"/>
          <p:nvPr/>
        </p:nvSpPr>
        <p:spPr>
          <a:xfrm rot="0">
            <a:off x="7378459" y="1719384"/>
            <a:ext cx="8961240" cy="6617144"/>
          </a:xfrm>
          <a:prstGeom prst="rect">
            <a:avLst/>
          </a:prstGeom>
        </p:spPr>
        <p:txBody>
          <a:bodyPr anchor="t" rtlCol="false" tIns="0" lIns="0" bIns="0" rIns="0">
            <a:spAutoFit/>
          </a:bodyPr>
          <a:lstStyle/>
          <a:p>
            <a:pPr algn="just">
              <a:lnSpc>
                <a:spcPts val="4350"/>
              </a:lnSpc>
              <a:spcBef>
                <a:spcPct val="0"/>
              </a:spcBef>
            </a:pPr>
            <a:r>
              <a:rPr lang="en-US" sz="3107">
                <a:solidFill>
                  <a:srgbClr val="FFFFFF"/>
                </a:solidFill>
                <a:latin typeface="Raleway"/>
                <a:ea typeface="Raleway"/>
                <a:cs typeface="Raleway"/>
                <a:sym typeface="Raleway"/>
              </a:rPr>
              <a:t>The main objective of AI TRiSM is to ensure that AI systems operate in a secure, ethical, and transparent manner. It aims to reduce risks associated with AI, such as bias, privacy breaches, and lack of accountability. It promotes the development of explainable and trustworthy AI models that users can understand and rely on. AI TRiSM also ensures compliance with legal and regulatory standards. Overall, it helps build responsible AI systems that align with organizational values and protect users from harm.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99083" y="1154087"/>
            <a:ext cx="9854223" cy="962716"/>
          </a:xfrm>
          <a:prstGeom prst="rect">
            <a:avLst/>
          </a:prstGeom>
        </p:spPr>
        <p:txBody>
          <a:bodyPr anchor="t" rtlCol="false" tIns="0" lIns="0" bIns="0" rIns="0">
            <a:spAutoFit/>
          </a:bodyPr>
          <a:lstStyle/>
          <a:p>
            <a:pPr algn="l">
              <a:lnSpc>
                <a:spcPts val="7485"/>
              </a:lnSpc>
            </a:pPr>
            <a:r>
              <a:rPr lang="en-US" sz="6867">
                <a:solidFill>
                  <a:srgbClr val="FFFFFF"/>
                </a:solidFill>
                <a:latin typeface="Anton"/>
                <a:ea typeface="Anton"/>
                <a:cs typeface="Anton"/>
                <a:sym typeface="Anton"/>
              </a:rPr>
              <a:t>KEY ELEMENTS OF AI TRISM</a:t>
            </a:r>
          </a:p>
        </p:txBody>
      </p:sp>
      <p:sp>
        <p:nvSpPr>
          <p:cNvPr name="Freeform 4" id="4"/>
          <p:cNvSpPr/>
          <p:nvPr/>
        </p:nvSpPr>
        <p:spPr>
          <a:xfrm flipH="false" flipV="false" rot="0">
            <a:off x="-889149" y="2343823"/>
            <a:ext cx="7153125" cy="6255802"/>
          </a:xfrm>
          <a:custGeom>
            <a:avLst/>
            <a:gdLst/>
            <a:ahLst/>
            <a:cxnLst/>
            <a:rect r="r" b="b" t="t" l="l"/>
            <a:pathLst>
              <a:path h="6255802" w="7153125">
                <a:moveTo>
                  <a:pt x="0" y="0"/>
                </a:moveTo>
                <a:lnTo>
                  <a:pt x="7153125" y="0"/>
                </a:lnTo>
                <a:lnTo>
                  <a:pt x="7153125" y="6255802"/>
                </a:lnTo>
                <a:lnTo>
                  <a:pt x="0" y="6255802"/>
                </a:lnTo>
                <a:lnTo>
                  <a:pt x="0" y="0"/>
                </a:lnTo>
                <a:close/>
              </a:path>
            </a:pathLst>
          </a:custGeom>
          <a:blipFill>
            <a:blip r:embed="rId4"/>
            <a:stretch>
              <a:fillRect l="0" t="0" r="0" b="0"/>
            </a:stretch>
          </a:blipFill>
        </p:spPr>
      </p:sp>
      <p:grpSp>
        <p:nvGrpSpPr>
          <p:cNvPr name="Group 5" id="5"/>
          <p:cNvGrpSpPr/>
          <p:nvPr/>
        </p:nvGrpSpPr>
        <p:grpSpPr>
          <a:xfrm rot="0">
            <a:off x="6499083" y="2775562"/>
            <a:ext cx="3447196" cy="1284773"/>
            <a:chOff x="0" y="0"/>
            <a:chExt cx="907903" cy="338376"/>
          </a:xfrm>
        </p:grpSpPr>
        <p:sp>
          <p:nvSpPr>
            <p:cNvPr name="Freeform 6" id="6"/>
            <p:cNvSpPr/>
            <p:nvPr/>
          </p:nvSpPr>
          <p:spPr>
            <a:xfrm flipH="false" flipV="false" rot="0">
              <a:off x="0" y="0"/>
              <a:ext cx="907903" cy="338376"/>
            </a:xfrm>
            <a:custGeom>
              <a:avLst/>
              <a:gdLst/>
              <a:ahLst/>
              <a:cxnLst/>
              <a:rect r="r" b="b" t="t" l="l"/>
              <a:pathLst>
                <a:path h="338376" w="907903">
                  <a:moveTo>
                    <a:pt x="0" y="0"/>
                  </a:moveTo>
                  <a:lnTo>
                    <a:pt x="907903" y="0"/>
                  </a:lnTo>
                  <a:lnTo>
                    <a:pt x="907903" y="338376"/>
                  </a:lnTo>
                  <a:lnTo>
                    <a:pt x="0" y="338376"/>
                  </a:lnTo>
                  <a:close/>
                </a:path>
              </a:pathLst>
            </a:custGeom>
            <a:gradFill rotWithShape="true">
              <a:gsLst>
                <a:gs pos="0">
                  <a:srgbClr val="365E93">
                    <a:alpha val="56000"/>
                  </a:srgbClr>
                </a:gs>
                <a:gs pos="100000">
                  <a:srgbClr val="AF2BA5">
                    <a:alpha val="56000"/>
                  </a:srgbClr>
                </a:gs>
              </a:gsLst>
              <a:lin ang="0"/>
            </a:gradFill>
          </p:spPr>
        </p:sp>
        <p:sp>
          <p:nvSpPr>
            <p:cNvPr name="TextBox 7" id="7"/>
            <p:cNvSpPr txBox="true"/>
            <p:nvPr/>
          </p:nvSpPr>
          <p:spPr>
            <a:xfrm>
              <a:off x="0" y="-38100"/>
              <a:ext cx="907903" cy="376476"/>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6769318" y="3194138"/>
            <a:ext cx="2573569" cy="361373"/>
          </a:xfrm>
          <a:prstGeom prst="rect">
            <a:avLst/>
          </a:prstGeom>
        </p:spPr>
        <p:txBody>
          <a:bodyPr anchor="t" rtlCol="false" tIns="0" lIns="0" bIns="0" rIns="0">
            <a:spAutoFit/>
          </a:bodyPr>
          <a:lstStyle/>
          <a:p>
            <a:pPr algn="l">
              <a:lnSpc>
                <a:spcPts val="2718"/>
              </a:lnSpc>
            </a:pPr>
            <a:r>
              <a:rPr lang="en-US" b="true" sz="2449">
                <a:solidFill>
                  <a:srgbClr val="FFFFFF"/>
                </a:solidFill>
                <a:latin typeface="Raleway Bold"/>
                <a:ea typeface="Raleway Bold"/>
                <a:cs typeface="Raleway Bold"/>
                <a:sym typeface="Raleway Bold"/>
              </a:rPr>
              <a:t>EXPLAINABILITY</a:t>
            </a:r>
          </a:p>
        </p:txBody>
      </p:sp>
      <p:sp>
        <p:nvSpPr>
          <p:cNvPr name="TextBox 9" id="9"/>
          <p:cNvSpPr txBox="true"/>
          <p:nvPr/>
        </p:nvSpPr>
        <p:spPr>
          <a:xfrm rot="0">
            <a:off x="10228382" y="2718412"/>
            <a:ext cx="6124924" cy="2094008"/>
          </a:xfrm>
          <a:prstGeom prst="rect">
            <a:avLst/>
          </a:prstGeom>
        </p:spPr>
        <p:txBody>
          <a:bodyPr anchor="t" rtlCol="false" tIns="0" lIns="0" bIns="0" rIns="0">
            <a:spAutoFit/>
          </a:bodyPr>
          <a:lstStyle/>
          <a:p>
            <a:pPr algn="l">
              <a:lnSpc>
                <a:spcPts val="3792"/>
              </a:lnSpc>
            </a:pPr>
            <a:r>
              <a:rPr lang="en-US" sz="2708">
                <a:solidFill>
                  <a:srgbClr val="FFFFFF"/>
                </a:solidFill>
                <a:latin typeface="Raleway"/>
                <a:ea typeface="Raleway"/>
                <a:cs typeface="Raleway"/>
                <a:sym typeface="Raleway"/>
              </a:rPr>
              <a:t>Makes AI decisions understandable and transparent to users and stakeholders.</a:t>
            </a:r>
          </a:p>
          <a:p>
            <a:pPr algn="l">
              <a:lnSpc>
                <a:spcPts val="2672"/>
              </a:lnSpc>
            </a:pPr>
          </a:p>
          <a:p>
            <a:pPr algn="l">
              <a:lnSpc>
                <a:spcPts val="2672"/>
              </a:lnSpc>
              <a:spcBef>
                <a:spcPct val="0"/>
              </a:spcBef>
            </a:pPr>
          </a:p>
        </p:txBody>
      </p:sp>
      <p:grpSp>
        <p:nvGrpSpPr>
          <p:cNvPr name="Group 10" id="10"/>
          <p:cNvGrpSpPr/>
          <p:nvPr/>
        </p:nvGrpSpPr>
        <p:grpSpPr>
          <a:xfrm rot="0">
            <a:off x="6499083" y="4307986"/>
            <a:ext cx="3447196" cy="1284773"/>
            <a:chOff x="0" y="0"/>
            <a:chExt cx="907903" cy="338376"/>
          </a:xfrm>
        </p:grpSpPr>
        <p:sp>
          <p:nvSpPr>
            <p:cNvPr name="Freeform 11" id="11"/>
            <p:cNvSpPr/>
            <p:nvPr/>
          </p:nvSpPr>
          <p:spPr>
            <a:xfrm flipH="false" flipV="false" rot="0">
              <a:off x="0" y="0"/>
              <a:ext cx="907903" cy="338376"/>
            </a:xfrm>
            <a:custGeom>
              <a:avLst/>
              <a:gdLst/>
              <a:ahLst/>
              <a:cxnLst/>
              <a:rect r="r" b="b" t="t" l="l"/>
              <a:pathLst>
                <a:path h="338376" w="907903">
                  <a:moveTo>
                    <a:pt x="0" y="0"/>
                  </a:moveTo>
                  <a:lnTo>
                    <a:pt x="907903" y="0"/>
                  </a:lnTo>
                  <a:lnTo>
                    <a:pt x="907903" y="338376"/>
                  </a:lnTo>
                  <a:lnTo>
                    <a:pt x="0" y="338376"/>
                  </a:lnTo>
                  <a:close/>
                </a:path>
              </a:pathLst>
            </a:custGeom>
            <a:gradFill rotWithShape="true">
              <a:gsLst>
                <a:gs pos="0">
                  <a:srgbClr val="365E93">
                    <a:alpha val="22000"/>
                  </a:srgbClr>
                </a:gs>
                <a:gs pos="100000">
                  <a:srgbClr val="AF2BA5">
                    <a:alpha val="22000"/>
                  </a:srgbClr>
                </a:gs>
              </a:gsLst>
              <a:lin ang="0"/>
            </a:gradFill>
          </p:spPr>
        </p:sp>
        <p:sp>
          <p:nvSpPr>
            <p:cNvPr name="TextBox 12" id="12"/>
            <p:cNvSpPr txBox="true"/>
            <p:nvPr/>
          </p:nvSpPr>
          <p:spPr>
            <a:xfrm>
              <a:off x="0" y="-38100"/>
              <a:ext cx="907903" cy="376476"/>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6769318" y="4602998"/>
            <a:ext cx="2573569" cy="704273"/>
          </a:xfrm>
          <a:prstGeom prst="rect">
            <a:avLst/>
          </a:prstGeom>
        </p:spPr>
        <p:txBody>
          <a:bodyPr anchor="t" rtlCol="false" tIns="0" lIns="0" bIns="0" rIns="0">
            <a:spAutoFit/>
          </a:bodyPr>
          <a:lstStyle/>
          <a:p>
            <a:pPr algn="l">
              <a:lnSpc>
                <a:spcPts val="2718"/>
              </a:lnSpc>
            </a:pPr>
            <a:r>
              <a:rPr lang="en-US" b="true" sz="2449">
                <a:solidFill>
                  <a:srgbClr val="FFFFFF"/>
                </a:solidFill>
                <a:latin typeface="Raleway Bold"/>
                <a:ea typeface="Raleway Bold"/>
                <a:cs typeface="Raleway Bold"/>
                <a:sym typeface="Raleway Bold"/>
              </a:rPr>
              <a:t>DATA PRIVACY MANAGEMENT</a:t>
            </a:r>
          </a:p>
        </p:txBody>
      </p:sp>
      <p:sp>
        <p:nvSpPr>
          <p:cNvPr name="TextBox 14" id="14"/>
          <p:cNvSpPr txBox="true"/>
          <p:nvPr/>
        </p:nvSpPr>
        <p:spPr>
          <a:xfrm rot="0">
            <a:off x="10184404" y="4418641"/>
            <a:ext cx="6585473" cy="1383042"/>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 Safeguards sensitive user data and ensures compliance with privacy laws.</a:t>
            </a:r>
          </a:p>
          <a:p>
            <a:pPr algn="l">
              <a:lnSpc>
                <a:spcPts val="3289"/>
              </a:lnSpc>
              <a:spcBef>
                <a:spcPct val="0"/>
              </a:spcBef>
            </a:pPr>
          </a:p>
        </p:txBody>
      </p:sp>
      <p:grpSp>
        <p:nvGrpSpPr>
          <p:cNvPr name="Group 15" id="15"/>
          <p:cNvGrpSpPr/>
          <p:nvPr/>
        </p:nvGrpSpPr>
        <p:grpSpPr>
          <a:xfrm rot="0">
            <a:off x="6499083" y="5840409"/>
            <a:ext cx="3447196" cy="857250"/>
            <a:chOff x="0" y="0"/>
            <a:chExt cx="907903" cy="225778"/>
          </a:xfrm>
        </p:grpSpPr>
        <p:sp>
          <p:nvSpPr>
            <p:cNvPr name="Freeform 16" id="16"/>
            <p:cNvSpPr/>
            <p:nvPr/>
          </p:nvSpPr>
          <p:spPr>
            <a:xfrm flipH="false" flipV="false" rot="0">
              <a:off x="0" y="0"/>
              <a:ext cx="907903" cy="225778"/>
            </a:xfrm>
            <a:custGeom>
              <a:avLst/>
              <a:gdLst/>
              <a:ahLst/>
              <a:cxnLst/>
              <a:rect r="r" b="b" t="t" l="l"/>
              <a:pathLst>
                <a:path h="225778" w="907903">
                  <a:moveTo>
                    <a:pt x="0" y="0"/>
                  </a:moveTo>
                  <a:lnTo>
                    <a:pt x="907903" y="0"/>
                  </a:lnTo>
                  <a:lnTo>
                    <a:pt x="907903" y="225778"/>
                  </a:lnTo>
                  <a:lnTo>
                    <a:pt x="0" y="225778"/>
                  </a:lnTo>
                  <a:close/>
                </a:path>
              </a:pathLst>
            </a:custGeom>
            <a:gradFill rotWithShape="true">
              <a:gsLst>
                <a:gs pos="0">
                  <a:srgbClr val="365E93">
                    <a:alpha val="56000"/>
                  </a:srgbClr>
                </a:gs>
                <a:gs pos="100000">
                  <a:srgbClr val="AF2BA5">
                    <a:alpha val="56000"/>
                  </a:srgbClr>
                </a:gs>
              </a:gsLst>
              <a:lin ang="0"/>
            </a:gradFill>
          </p:spPr>
        </p:sp>
        <p:sp>
          <p:nvSpPr>
            <p:cNvPr name="TextBox 17" id="17"/>
            <p:cNvSpPr txBox="true"/>
            <p:nvPr/>
          </p:nvSpPr>
          <p:spPr>
            <a:xfrm>
              <a:off x="0" y="-38100"/>
              <a:ext cx="907903" cy="263878"/>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6769318" y="6067143"/>
            <a:ext cx="2573569" cy="361373"/>
          </a:xfrm>
          <a:prstGeom prst="rect">
            <a:avLst/>
          </a:prstGeom>
        </p:spPr>
        <p:txBody>
          <a:bodyPr anchor="t" rtlCol="false" tIns="0" lIns="0" bIns="0" rIns="0">
            <a:spAutoFit/>
          </a:bodyPr>
          <a:lstStyle/>
          <a:p>
            <a:pPr algn="l">
              <a:lnSpc>
                <a:spcPts val="2718"/>
              </a:lnSpc>
            </a:pPr>
            <a:r>
              <a:rPr lang="en-US" sz="2449" b="true">
                <a:solidFill>
                  <a:srgbClr val="FFFFFF"/>
                </a:solidFill>
                <a:latin typeface="Raleway Bold"/>
                <a:ea typeface="Raleway Bold"/>
                <a:cs typeface="Raleway Bold"/>
                <a:sym typeface="Raleway Bold"/>
              </a:rPr>
              <a:t>SECURITY </a:t>
            </a:r>
          </a:p>
        </p:txBody>
      </p:sp>
      <p:sp>
        <p:nvSpPr>
          <p:cNvPr name="TextBox 19" id="19"/>
          <p:cNvSpPr txBox="true"/>
          <p:nvPr/>
        </p:nvSpPr>
        <p:spPr>
          <a:xfrm rot="0">
            <a:off x="10228382" y="6878634"/>
            <a:ext cx="7687841" cy="1383042"/>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Ensures responsible development, deployment, and oversight of AI systems.</a:t>
            </a:r>
          </a:p>
          <a:p>
            <a:pPr algn="l">
              <a:lnSpc>
                <a:spcPts val="3289"/>
              </a:lnSpc>
              <a:spcBef>
                <a:spcPct val="0"/>
              </a:spcBef>
            </a:pPr>
          </a:p>
        </p:txBody>
      </p:sp>
      <p:grpSp>
        <p:nvGrpSpPr>
          <p:cNvPr name="Group 20" id="20"/>
          <p:cNvGrpSpPr/>
          <p:nvPr/>
        </p:nvGrpSpPr>
        <p:grpSpPr>
          <a:xfrm rot="0">
            <a:off x="6499083" y="6945309"/>
            <a:ext cx="3447196" cy="923526"/>
            <a:chOff x="0" y="0"/>
            <a:chExt cx="907903" cy="243233"/>
          </a:xfrm>
        </p:grpSpPr>
        <p:sp>
          <p:nvSpPr>
            <p:cNvPr name="Freeform 21" id="21"/>
            <p:cNvSpPr/>
            <p:nvPr/>
          </p:nvSpPr>
          <p:spPr>
            <a:xfrm flipH="false" flipV="false" rot="0">
              <a:off x="0" y="0"/>
              <a:ext cx="907903" cy="243233"/>
            </a:xfrm>
            <a:custGeom>
              <a:avLst/>
              <a:gdLst/>
              <a:ahLst/>
              <a:cxnLst/>
              <a:rect r="r" b="b" t="t" l="l"/>
              <a:pathLst>
                <a:path h="243233" w="907903">
                  <a:moveTo>
                    <a:pt x="0" y="0"/>
                  </a:moveTo>
                  <a:lnTo>
                    <a:pt x="907903" y="0"/>
                  </a:lnTo>
                  <a:lnTo>
                    <a:pt x="907903" y="243233"/>
                  </a:lnTo>
                  <a:lnTo>
                    <a:pt x="0" y="243233"/>
                  </a:lnTo>
                  <a:close/>
                </a:path>
              </a:pathLst>
            </a:custGeom>
            <a:gradFill rotWithShape="true">
              <a:gsLst>
                <a:gs pos="0">
                  <a:srgbClr val="365E93">
                    <a:alpha val="56000"/>
                  </a:srgbClr>
                </a:gs>
                <a:gs pos="100000">
                  <a:srgbClr val="AF2BA5">
                    <a:alpha val="56000"/>
                  </a:srgbClr>
                </a:gs>
              </a:gsLst>
              <a:lin ang="0"/>
            </a:gradFill>
          </p:spPr>
        </p:sp>
        <p:sp>
          <p:nvSpPr>
            <p:cNvPr name="TextBox 22" id="22"/>
            <p:cNvSpPr txBox="true"/>
            <p:nvPr/>
          </p:nvSpPr>
          <p:spPr>
            <a:xfrm>
              <a:off x="0" y="-47625"/>
              <a:ext cx="907903" cy="290858"/>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6769318" y="7173909"/>
            <a:ext cx="2573569" cy="361373"/>
          </a:xfrm>
          <a:prstGeom prst="rect">
            <a:avLst/>
          </a:prstGeom>
        </p:spPr>
        <p:txBody>
          <a:bodyPr anchor="t" rtlCol="false" tIns="0" lIns="0" bIns="0" rIns="0">
            <a:spAutoFit/>
          </a:bodyPr>
          <a:lstStyle/>
          <a:p>
            <a:pPr algn="l">
              <a:lnSpc>
                <a:spcPts val="2718"/>
              </a:lnSpc>
            </a:pPr>
            <a:r>
              <a:rPr lang="en-US" sz="2449" b="true">
                <a:solidFill>
                  <a:srgbClr val="FFFFFF"/>
                </a:solidFill>
                <a:latin typeface="Raleway Bold"/>
                <a:ea typeface="Raleway Bold"/>
                <a:cs typeface="Raleway Bold"/>
                <a:sym typeface="Raleway Bold"/>
              </a:rPr>
              <a:t>GOVERNANCE</a:t>
            </a:r>
          </a:p>
        </p:txBody>
      </p:sp>
      <p:grpSp>
        <p:nvGrpSpPr>
          <p:cNvPr name="Group 24" id="24"/>
          <p:cNvGrpSpPr/>
          <p:nvPr/>
        </p:nvGrpSpPr>
        <p:grpSpPr>
          <a:xfrm rot="0">
            <a:off x="6499083" y="8116485"/>
            <a:ext cx="3447196" cy="951700"/>
            <a:chOff x="0" y="0"/>
            <a:chExt cx="907903" cy="250653"/>
          </a:xfrm>
        </p:grpSpPr>
        <p:sp>
          <p:nvSpPr>
            <p:cNvPr name="Freeform 25" id="25"/>
            <p:cNvSpPr/>
            <p:nvPr/>
          </p:nvSpPr>
          <p:spPr>
            <a:xfrm flipH="false" flipV="false" rot="0">
              <a:off x="0" y="0"/>
              <a:ext cx="907903" cy="250653"/>
            </a:xfrm>
            <a:custGeom>
              <a:avLst/>
              <a:gdLst/>
              <a:ahLst/>
              <a:cxnLst/>
              <a:rect r="r" b="b" t="t" l="l"/>
              <a:pathLst>
                <a:path h="250653" w="907903">
                  <a:moveTo>
                    <a:pt x="0" y="0"/>
                  </a:moveTo>
                  <a:lnTo>
                    <a:pt x="907903" y="0"/>
                  </a:lnTo>
                  <a:lnTo>
                    <a:pt x="907903" y="250653"/>
                  </a:lnTo>
                  <a:lnTo>
                    <a:pt x="0" y="250653"/>
                  </a:lnTo>
                  <a:close/>
                </a:path>
              </a:pathLst>
            </a:custGeom>
            <a:gradFill rotWithShape="true">
              <a:gsLst>
                <a:gs pos="0">
                  <a:srgbClr val="365E93">
                    <a:alpha val="22000"/>
                  </a:srgbClr>
                </a:gs>
                <a:gs pos="100000">
                  <a:srgbClr val="AF2BA5">
                    <a:alpha val="22000"/>
                  </a:srgbClr>
                </a:gs>
              </a:gsLst>
              <a:lin ang="0"/>
            </a:gradFill>
          </p:spPr>
        </p:sp>
        <p:sp>
          <p:nvSpPr>
            <p:cNvPr name="TextBox 26" id="26"/>
            <p:cNvSpPr txBox="true"/>
            <p:nvPr/>
          </p:nvSpPr>
          <p:spPr>
            <a:xfrm>
              <a:off x="0" y="-38100"/>
              <a:ext cx="907903" cy="288753"/>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6769318" y="8252251"/>
            <a:ext cx="2573569" cy="704273"/>
          </a:xfrm>
          <a:prstGeom prst="rect">
            <a:avLst/>
          </a:prstGeom>
        </p:spPr>
        <p:txBody>
          <a:bodyPr anchor="t" rtlCol="false" tIns="0" lIns="0" bIns="0" rIns="0">
            <a:spAutoFit/>
          </a:bodyPr>
          <a:lstStyle/>
          <a:p>
            <a:pPr algn="l">
              <a:lnSpc>
                <a:spcPts val="2718"/>
              </a:lnSpc>
            </a:pPr>
            <a:r>
              <a:rPr lang="en-US" b="true" sz="2449">
                <a:solidFill>
                  <a:srgbClr val="FFFFFF"/>
                </a:solidFill>
                <a:latin typeface="Raleway Bold"/>
                <a:ea typeface="Raleway Bold"/>
                <a:cs typeface="Raleway Bold"/>
                <a:sym typeface="Raleway Bold"/>
              </a:rPr>
              <a:t>COMPLIANCE  AND ETHICS</a:t>
            </a:r>
          </a:p>
        </p:txBody>
      </p:sp>
      <p:sp>
        <p:nvSpPr>
          <p:cNvPr name="TextBox 28" id="28"/>
          <p:cNvSpPr txBox="true"/>
          <p:nvPr/>
        </p:nvSpPr>
        <p:spPr>
          <a:xfrm rot="0">
            <a:off x="10184404" y="5773734"/>
            <a:ext cx="6585473" cy="1489722"/>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Protects AI systems from cyber threats and unauthorized access.</a:t>
            </a:r>
          </a:p>
          <a:p>
            <a:pPr algn="l">
              <a:lnSpc>
                <a:spcPts val="4129"/>
              </a:lnSpc>
              <a:spcBef>
                <a:spcPct val="0"/>
              </a:spcBef>
            </a:pPr>
          </a:p>
        </p:txBody>
      </p:sp>
      <p:sp>
        <p:nvSpPr>
          <p:cNvPr name="TextBox 29" id="29"/>
          <p:cNvSpPr txBox="true"/>
          <p:nvPr/>
        </p:nvSpPr>
        <p:spPr>
          <a:xfrm rot="0">
            <a:off x="10228382" y="8099797"/>
            <a:ext cx="7687841" cy="968388"/>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Aligns AI usage with legal, ethical, and organizational standards.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04724" y="6069324"/>
            <a:ext cx="4383276" cy="4114800"/>
          </a:xfrm>
          <a:custGeom>
            <a:avLst/>
            <a:gdLst/>
            <a:ahLst/>
            <a:cxnLst/>
            <a:rect r="r" b="b" t="t" l="l"/>
            <a:pathLst>
              <a:path h="4114800" w="4383276">
                <a:moveTo>
                  <a:pt x="0" y="0"/>
                </a:moveTo>
                <a:lnTo>
                  <a:pt x="4383276" y="0"/>
                </a:lnTo>
                <a:lnTo>
                  <a:pt x="43832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4619" y="5687058"/>
            <a:ext cx="6420174" cy="2439666"/>
          </a:xfrm>
          <a:custGeom>
            <a:avLst/>
            <a:gdLst/>
            <a:ahLst/>
            <a:cxnLst/>
            <a:rect r="r" b="b" t="t" l="l"/>
            <a:pathLst>
              <a:path h="2439666" w="6420174">
                <a:moveTo>
                  <a:pt x="0" y="0"/>
                </a:moveTo>
                <a:lnTo>
                  <a:pt x="6420174" y="0"/>
                </a:lnTo>
                <a:lnTo>
                  <a:pt x="6420174" y="2439666"/>
                </a:lnTo>
                <a:lnTo>
                  <a:pt x="0" y="2439666"/>
                </a:lnTo>
                <a:lnTo>
                  <a:pt x="0" y="0"/>
                </a:lnTo>
                <a:close/>
              </a:path>
            </a:pathLst>
          </a:custGeom>
          <a:blipFill>
            <a:blip r:embed="rId6"/>
            <a:stretch>
              <a:fillRect l="0" t="0" r="0" b="0"/>
            </a:stretch>
          </a:blipFill>
        </p:spPr>
      </p:sp>
      <p:sp>
        <p:nvSpPr>
          <p:cNvPr name="TextBox 5" id="5"/>
          <p:cNvSpPr txBox="true"/>
          <p:nvPr/>
        </p:nvSpPr>
        <p:spPr>
          <a:xfrm rot="0">
            <a:off x="1028700" y="1591057"/>
            <a:ext cx="7050036" cy="1288193"/>
          </a:xfrm>
          <a:prstGeom prst="rect">
            <a:avLst/>
          </a:prstGeom>
        </p:spPr>
        <p:txBody>
          <a:bodyPr anchor="t" rtlCol="false" tIns="0" lIns="0" bIns="0" rIns="0">
            <a:spAutoFit/>
          </a:bodyPr>
          <a:lstStyle/>
          <a:p>
            <a:pPr algn="l">
              <a:lnSpc>
                <a:spcPts val="9842"/>
              </a:lnSpc>
            </a:pPr>
            <a:r>
              <a:rPr lang="en-US" sz="9029">
                <a:solidFill>
                  <a:srgbClr val="FFFFFF"/>
                </a:solidFill>
                <a:latin typeface="Anton"/>
                <a:ea typeface="Anton"/>
                <a:cs typeface="Anton"/>
                <a:sym typeface="Anton"/>
              </a:rPr>
              <a:t>TRUST IN AI </a:t>
            </a:r>
          </a:p>
        </p:txBody>
      </p:sp>
      <p:sp>
        <p:nvSpPr>
          <p:cNvPr name="TextBox 6" id="6"/>
          <p:cNvSpPr txBox="true"/>
          <p:nvPr/>
        </p:nvSpPr>
        <p:spPr>
          <a:xfrm rot="0">
            <a:off x="1028700" y="2812575"/>
            <a:ext cx="16230600" cy="4595175"/>
          </a:xfrm>
          <a:prstGeom prst="rect">
            <a:avLst/>
          </a:prstGeom>
        </p:spPr>
        <p:txBody>
          <a:bodyPr anchor="t" rtlCol="false" tIns="0" lIns="0" bIns="0" rIns="0">
            <a:spAutoFit/>
          </a:bodyPr>
          <a:lstStyle/>
          <a:p>
            <a:pPr algn="l">
              <a:lnSpc>
                <a:spcPts val="3832"/>
              </a:lnSpc>
            </a:pPr>
          </a:p>
          <a:p>
            <a:pPr algn="l">
              <a:lnSpc>
                <a:spcPts val="4112"/>
              </a:lnSpc>
            </a:pPr>
          </a:p>
          <a:p>
            <a:pPr algn="l">
              <a:lnSpc>
                <a:spcPts val="4112"/>
              </a:lnSpc>
              <a:spcBef>
                <a:spcPct val="0"/>
              </a:spcBef>
            </a:pPr>
            <a:r>
              <a:rPr lang="en-US" sz="2937">
                <a:solidFill>
                  <a:srgbClr val="FFFFFF"/>
                </a:solidFill>
                <a:latin typeface="Raleway"/>
                <a:ea typeface="Raleway"/>
                <a:cs typeface="Raleway"/>
                <a:sym typeface="Raleway"/>
              </a:rPr>
              <a:t>Trust in AI TRiSM is about building confidence in the entire AI lifecycle through effective management of risks, transparency, and ethical practices. It ensures that AI systems are not only technically sound but also align with human values and societal norms. By focusing on governance, fairness, explainability, and security, AI TRiSM helps organizations create AI that people can rely on. It promotes responsible use of AI by making sure systems are understandable, accountable, and respectful of privacy, which ultimately strengthens user trust and acceptance.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07081" y="5801258"/>
            <a:ext cx="2471566" cy="2840881"/>
          </a:xfrm>
          <a:custGeom>
            <a:avLst/>
            <a:gdLst/>
            <a:ahLst/>
            <a:cxnLst/>
            <a:rect r="r" b="b" t="t" l="l"/>
            <a:pathLst>
              <a:path h="2840881" w="2471566">
                <a:moveTo>
                  <a:pt x="0" y="0"/>
                </a:moveTo>
                <a:lnTo>
                  <a:pt x="2471566" y="0"/>
                </a:lnTo>
                <a:lnTo>
                  <a:pt x="2471566" y="2840881"/>
                </a:lnTo>
                <a:lnTo>
                  <a:pt x="0" y="2840881"/>
                </a:lnTo>
                <a:lnTo>
                  <a:pt x="0" y="0"/>
                </a:lnTo>
                <a:close/>
              </a:path>
            </a:pathLst>
          </a:custGeom>
          <a:blipFill>
            <a:blip r:embed="rId4"/>
            <a:stretch>
              <a:fillRect l="0" t="0" r="0" b="0"/>
            </a:stretch>
          </a:blipFill>
        </p:spPr>
      </p:sp>
      <p:sp>
        <p:nvSpPr>
          <p:cNvPr name="Freeform 4" id="4"/>
          <p:cNvSpPr/>
          <p:nvPr/>
        </p:nvSpPr>
        <p:spPr>
          <a:xfrm flipH="false" flipV="false" rot="0">
            <a:off x="16813855" y="0"/>
            <a:ext cx="2471566" cy="2840881"/>
          </a:xfrm>
          <a:custGeom>
            <a:avLst/>
            <a:gdLst/>
            <a:ahLst/>
            <a:cxnLst/>
            <a:rect r="r" b="b" t="t" l="l"/>
            <a:pathLst>
              <a:path h="2840881" w="2471566">
                <a:moveTo>
                  <a:pt x="0" y="0"/>
                </a:moveTo>
                <a:lnTo>
                  <a:pt x="2471567" y="0"/>
                </a:lnTo>
                <a:lnTo>
                  <a:pt x="2471567" y="2840881"/>
                </a:lnTo>
                <a:lnTo>
                  <a:pt x="0" y="2840881"/>
                </a:lnTo>
                <a:lnTo>
                  <a:pt x="0" y="0"/>
                </a:lnTo>
                <a:close/>
              </a:path>
            </a:pathLst>
          </a:custGeom>
          <a:blipFill>
            <a:blip r:embed="rId4"/>
            <a:stretch>
              <a:fillRect l="0" t="0" r="0" b="0"/>
            </a:stretch>
          </a:blipFill>
        </p:spPr>
      </p:sp>
      <p:sp>
        <p:nvSpPr>
          <p:cNvPr name="Freeform 5" id="5"/>
          <p:cNvSpPr/>
          <p:nvPr/>
        </p:nvSpPr>
        <p:spPr>
          <a:xfrm flipH="false" flipV="false" rot="0">
            <a:off x="1720406" y="721780"/>
            <a:ext cx="11611510" cy="2119101"/>
          </a:xfrm>
          <a:custGeom>
            <a:avLst/>
            <a:gdLst/>
            <a:ahLst/>
            <a:cxnLst/>
            <a:rect r="r" b="b" t="t" l="l"/>
            <a:pathLst>
              <a:path h="2119101" w="11611510">
                <a:moveTo>
                  <a:pt x="0" y="0"/>
                </a:moveTo>
                <a:lnTo>
                  <a:pt x="11611510" y="0"/>
                </a:lnTo>
                <a:lnTo>
                  <a:pt x="11611510" y="2119101"/>
                </a:lnTo>
                <a:lnTo>
                  <a:pt x="0" y="2119101"/>
                </a:lnTo>
                <a:lnTo>
                  <a:pt x="0" y="0"/>
                </a:lnTo>
                <a:close/>
              </a:path>
            </a:pathLst>
          </a:custGeom>
          <a:blipFill>
            <a:blip r:embed="rId5"/>
            <a:stretch>
              <a:fillRect l="0" t="0" r="0" b="0"/>
            </a:stretch>
          </a:blipFill>
        </p:spPr>
      </p:sp>
      <p:sp>
        <p:nvSpPr>
          <p:cNvPr name="TextBox 6" id="6"/>
          <p:cNvSpPr txBox="true"/>
          <p:nvPr/>
        </p:nvSpPr>
        <p:spPr>
          <a:xfrm rot="0">
            <a:off x="2983526" y="914931"/>
            <a:ext cx="6778939" cy="1551824"/>
          </a:xfrm>
          <a:prstGeom prst="rect">
            <a:avLst/>
          </a:prstGeom>
        </p:spPr>
        <p:txBody>
          <a:bodyPr anchor="t" rtlCol="false" tIns="0" lIns="0" bIns="0" rIns="0">
            <a:spAutoFit/>
          </a:bodyPr>
          <a:lstStyle/>
          <a:p>
            <a:pPr algn="l">
              <a:lnSpc>
                <a:spcPts val="12641"/>
              </a:lnSpc>
              <a:spcBef>
                <a:spcPct val="0"/>
              </a:spcBef>
            </a:pPr>
            <a:r>
              <a:rPr lang="en-US" sz="9029">
                <a:solidFill>
                  <a:srgbClr val="FFFFFF"/>
                </a:solidFill>
                <a:latin typeface="Anton"/>
                <a:ea typeface="Anton"/>
                <a:cs typeface="Anton"/>
                <a:sym typeface="Anton"/>
              </a:rPr>
              <a:t>RISK IN AI </a:t>
            </a:r>
          </a:p>
        </p:txBody>
      </p:sp>
      <p:sp>
        <p:nvSpPr>
          <p:cNvPr name="TextBox 7" id="7"/>
          <p:cNvSpPr txBox="true"/>
          <p:nvPr/>
        </p:nvSpPr>
        <p:spPr>
          <a:xfrm rot="0">
            <a:off x="1720406" y="3488265"/>
            <a:ext cx="15826534" cy="4559312"/>
          </a:xfrm>
          <a:prstGeom prst="rect">
            <a:avLst/>
          </a:prstGeom>
        </p:spPr>
        <p:txBody>
          <a:bodyPr anchor="t" rtlCol="false" tIns="0" lIns="0" bIns="0" rIns="0">
            <a:spAutoFit/>
          </a:bodyPr>
          <a:lstStyle/>
          <a:p>
            <a:pPr algn="l">
              <a:lnSpc>
                <a:spcPts val="3569"/>
              </a:lnSpc>
            </a:pPr>
          </a:p>
          <a:p>
            <a:pPr algn="l">
              <a:lnSpc>
                <a:spcPts val="3569"/>
              </a:lnSpc>
            </a:pPr>
          </a:p>
          <a:p>
            <a:pPr algn="l">
              <a:lnSpc>
                <a:spcPts val="4129"/>
              </a:lnSpc>
              <a:spcBef>
                <a:spcPct val="0"/>
              </a:spcBef>
            </a:pPr>
            <a:r>
              <a:rPr lang="en-US" sz="2949">
                <a:solidFill>
                  <a:srgbClr val="FFFFFF"/>
                </a:solidFill>
                <a:latin typeface="Raleway"/>
                <a:ea typeface="Raleway"/>
                <a:cs typeface="Raleway"/>
                <a:sym typeface="Raleway"/>
              </a:rPr>
              <a:t>Risk in AI TRiSM refers to the potential challenges and negative outcomes that can arise if trust, security, and ethical principles are not properly managed in AI systems. These risks include model inaccuracy, data breaches, algorithmic bias, and non-compliance with regulations. Without proper oversight, AI may produce unreliable or harmful results. There’s also a risk of lack of explainability, making it difficult to understand or justify AI decisions. AI TRiSM addresses these issues by implementing controls that ensure AI systems remain secure, fair, and aligned with organizational and societal expectations.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023917" y="7010785"/>
            <a:ext cx="3579876" cy="4114800"/>
          </a:xfrm>
          <a:custGeom>
            <a:avLst/>
            <a:gdLst/>
            <a:ahLst/>
            <a:cxnLst/>
            <a:rect r="r" b="b" t="t" l="l"/>
            <a:pathLst>
              <a:path h="4114800" w="3579876">
                <a:moveTo>
                  <a:pt x="0" y="0"/>
                </a:moveTo>
                <a:lnTo>
                  <a:pt x="3579876" y="0"/>
                </a:lnTo>
                <a:lnTo>
                  <a:pt x="3579876" y="4114800"/>
                </a:lnTo>
                <a:lnTo>
                  <a:pt x="0" y="4114800"/>
                </a:lnTo>
                <a:lnTo>
                  <a:pt x="0" y="0"/>
                </a:lnTo>
                <a:close/>
              </a:path>
            </a:pathLst>
          </a:custGeom>
          <a:blipFill>
            <a:blip r:embed="rId4"/>
            <a:stretch>
              <a:fillRect l="0" t="0" r="0" b="0"/>
            </a:stretch>
          </a:blipFill>
        </p:spPr>
      </p:sp>
      <p:sp>
        <p:nvSpPr>
          <p:cNvPr name="TextBox 4" id="4"/>
          <p:cNvSpPr txBox="true"/>
          <p:nvPr/>
        </p:nvSpPr>
        <p:spPr>
          <a:xfrm rot="0">
            <a:off x="1145748" y="1856783"/>
            <a:ext cx="7473391" cy="993558"/>
          </a:xfrm>
          <a:prstGeom prst="rect">
            <a:avLst/>
          </a:prstGeom>
        </p:spPr>
        <p:txBody>
          <a:bodyPr anchor="t" rtlCol="false" tIns="0" lIns="0" bIns="0" rIns="0">
            <a:spAutoFit/>
          </a:bodyPr>
          <a:lstStyle/>
          <a:p>
            <a:pPr algn="l">
              <a:lnSpc>
                <a:spcPts val="7662"/>
              </a:lnSpc>
            </a:pPr>
            <a:r>
              <a:rPr lang="en-US" sz="7029">
                <a:solidFill>
                  <a:srgbClr val="FFFFFF"/>
                </a:solidFill>
                <a:latin typeface="Anton"/>
                <a:ea typeface="Anton"/>
                <a:cs typeface="Anton"/>
                <a:sym typeface="Anton"/>
              </a:rPr>
              <a:t>SECURITY IN AI</a:t>
            </a:r>
          </a:p>
        </p:txBody>
      </p:sp>
      <p:sp>
        <p:nvSpPr>
          <p:cNvPr name="TextBox 5" id="5"/>
          <p:cNvSpPr txBox="true"/>
          <p:nvPr/>
        </p:nvSpPr>
        <p:spPr>
          <a:xfrm rot="0">
            <a:off x="1028700" y="2793192"/>
            <a:ext cx="15996504" cy="4643467"/>
          </a:xfrm>
          <a:prstGeom prst="rect">
            <a:avLst/>
          </a:prstGeom>
        </p:spPr>
        <p:txBody>
          <a:bodyPr anchor="t" rtlCol="false" tIns="0" lIns="0" bIns="0" rIns="0">
            <a:spAutoFit/>
          </a:bodyPr>
          <a:lstStyle/>
          <a:p>
            <a:pPr algn="l">
              <a:lnSpc>
                <a:spcPts val="3725"/>
              </a:lnSpc>
            </a:pPr>
          </a:p>
          <a:p>
            <a:pPr algn="l">
              <a:lnSpc>
                <a:spcPts val="4145"/>
              </a:lnSpc>
            </a:pPr>
          </a:p>
          <a:p>
            <a:pPr algn="l">
              <a:lnSpc>
                <a:spcPts val="4145"/>
              </a:lnSpc>
              <a:spcBef>
                <a:spcPct val="0"/>
              </a:spcBef>
            </a:pPr>
            <a:r>
              <a:rPr lang="en-US" sz="2961">
                <a:solidFill>
                  <a:srgbClr val="FFFFFF"/>
                </a:solidFill>
                <a:latin typeface="Raleway"/>
                <a:ea typeface="Raleway"/>
                <a:cs typeface="Raleway"/>
                <a:sym typeface="Raleway"/>
              </a:rPr>
              <a:t>Security in AI TRiSM ensures that AI systems are protected from threats throughout their entire lifecycle. It involves safeguarding data, models, and processes from cyberattacks, manipulation, and unauthorized access. AI TRiSM focuses on identifying security vulnerabilities early, implementing robust defenses, and continuously monitoring for risks. It also includes practices like secure model deployment, access control, and encryption. By integrating security into AI governance, AI TRiSM helps organizations maintain the integrity, reliability, and trustworthiness of their AI systems.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591246">
            <a:off x="10966894" y="3598103"/>
            <a:ext cx="6060676" cy="5455739"/>
          </a:xfrm>
          <a:custGeom>
            <a:avLst/>
            <a:gdLst/>
            <a:ahLst/>
            <a:cxnLst/>
            <a:rect r="r" b="b" t="t" l="l"/>
            <a:pathLst>
              <a:path h="5455739" w="6060676">
                <a:moveTo>
                  <a:pt x="0" y="0"/>
                </a:moveTo>
                <a:lnTo>
                  <a:pt x="6060676" y="0"/>
                </a:lnTo>
                <a:lnTo>
                  <a:pt x="6060676" y="5455739"/>
                </a:lnTo>
                <a:lnTo>
                  <a:pt x="0" y="5455739"/>
                </a:lnTo>
                <a:lnTo>
                  <a:pt x="0" y="0"/>
                </a:lnTo>
                <a:close/>
              </a:path>
            </a:pathLst>
          </a:custGeom>
          <a:blipFill>
            <a:blip r:embed="rId4"/>
            <a:stretch>
              <a:fillRect l="0" t="0" r="0" b="0"/>
            </a:stretch>
          </a:blipFill>
        </p:spPr>
      </p:sp>
      <p:sp>
        <p:nvSpPr>
          <p:cNvPr name="TextBox 4" id="4"/>
          <p:cNvSpPr txBox="true"/>
          <p:nvPr/>
        </p:nvSpPr>
        <p:spPr>
          <a:xfrm rot="0">
            <a:off x="2252340" y="1347802"/>
            <a:ext cx="13366053" cy="1258221"/>
          </a:xfrm>
          <a:prstGeom prst="rect">
            <a:avLst/>
          </a:prstGeom>
        </p:spPr>
        <p:txBody>
          <a:bodyPr anchor="t" rtlCol="false" tIns="0" lIns="0" bIns="0" rIns="0">
            <a:spAutoFit/>
          </a:bodyPr>
          <a:lstStyle/>
          <a:p>
            <a:pPr algn="l">
              <a:lnSpc>
                <a:spcPts val="9733"/>
              </a:lnSpc>
            </a:pPr>
            <a:r>
              <a:rPr lang="en-US" sz="8929">
                <a:solidFill>
                  <a:srgbClr val="FFFFFF"/>
                </a:solidFill>
                <a:latin typeface="Anton"/>
                <a:ea typeface="Anton"/>
                <a:cs typeface="Anton"/>
                <a:sym typeface="Anton"/>
              </a:rPr>
              <a:t>AI GOVERNANCE</a:t>
            </a:r>
          </a:p>
        </p:txBody>
      </p:sp>
      <p:sp>
        <p:nvSpPr>
          <p:cNvPr name="TextBox 5" id="5"/>
          <p:cNvSpPr txBox="true"/>
          <p:nvPr/>
        </p:nvSpPr>
        <p:spPr>
          <a:xfrm rot="0">
            <a:off x="2128647" y="3825525"/>
            <a:ext cx="10733339" cy="3023248"/>
          </a:xfrm>
          <a:prstGeom prst="rect">
            <a:avLst/>
          </a:prstGeom>
        </p:spPr>
        <p:txBody>
          <a:bodyPr anchor="t" rtlCol="false" tIns="0" lIns="0" bIns="0" rIns="0">
            <a:spAutoFit/>
          </a:bodyPr>
          <a:lstStyle/>
          <a:p>
            <a:pPr algn="l">
              <a:lnSpc>
                <a:spcPts val="3989"/>
              </a:lnSpc>
              <a:spcBef>
                <a:spcPct val="0"/>
              </a:spcBef>
            </a:pPr>
            <a:r>
              <a:rPr lang="en-US" sz="2849">
                <a:solidFill>
                  <a:srgbClr val="FFFFFF"/>
                </a:solidFill>
                <a:latin typeface="Raleway"/>
                <a:ea typeface="Raleway"/>
                <a:cs typeface="Raleway"/>
                <a:sym typeface="Raleway"/>
              </a:rPr>
              <a:t>AI governance refers to the policies, processes, and structures that guide the development, deployment, and use of artificial intelligence (AI). It aims to ensure AI systems are safe, ethical, trustworthy, and compliant with legal and societal norms. This includes addressing issues like bias, privacy, security, and accountability.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73554" y="5874260"/>
            <a:ext cx="3385746" cy="3891662"/>
          </a:xfrm>
          <a:custGeom>
            <a:avLst/>
            <a:gdLst/>
            <a:ahLst/>
            <a:cxnLst/>
            <a:rect r="r" b="b" t="t" l="l"/>
            <a:pathLst>
              <a:path h="3891662" w="3385746">
                <a:moveTo>
                  <a:pt x="0" y="0"/>
                </a:moveTo>
                <a:lnTo>
                  <a:pt x="3385746" y="0"/>
                </a:lnTo>
                <a:lnTo>
                  <a:pt x="3385746" y="3891662"/>
                </a:lnTo>
                <a:lnTo>
                  <a:pt x="0" y="3891662"/>
                </a:lnTo>
                <a:lnTo>
                  <a:pt x="0" y="0"/>
                </a:lnTo>
                <a:close/>
              </a:path>
            </a:pathLst>
          </a:custGeom>
          <a:blipFill>
            <a:blip r:embed="rId4"/>
            <a:stretch>
              <a:fillRect l="0" t="0" r="0" b="0"/>
            </a:stretch>
          </a:blipFill>
        </p:spPr>
      </p:sp>
      <p:sp>
        <p:nvSpPr>
          <p:cNvPr name="Freeform 4" id="4"/>
          <p:cNvSpPr/>
          <p:nvPr/>
        </p:nvSpPr>
        <p:spPr>
          <a:xfrm flipH="false" flipV="false" rot="9060978">
            <a:off x="-1129501" y="-174106"/>
            <a:ext cx="4316402" cy="2546677"/>
          </a:xfrm>
          <a:custGeom>
            <a:avLst/>
            <a:gdLst/>
            <a:ahLst/>
            <a:cxnLst/>
            <a:rect r="r" b="b" t="t" l="l"/>
            <a:pathLst>
              <a:path h="2546677" w="4316402">
                <a:moveTo>
                  <a:pt x="0" y="0"/>
                </a:moveTo>
                <a:lnTo>
                  <a:pt x="4316402" y="0"/>
                </a:lnTo>
                <a:lnTo>
                  <a:pt x="4316402" y="2546677"/>
                </a:lnTo>
                <a:lnTo>
                  <a:pt x="0" y="2546677"/>
                </a:lnTo>
                <a:lnTo>
                  <a:pt x="0" y="0"/>
                </a:lnTo>
                <a:close/>
              </a:path>
            </a:pathLst>
          </a:custGeom>
          <a:blipFill>
            <a:blip r:embed="rId5"/>
            <a:stretch>
              <a:fillRect l="0" t="0" r="0" b="0"/>
            </a:stretch>
          </a:blipFill>
        </p:spPr>
      </p:sp>
      <p:sp>
        <p:nvSpPr>
          <p:cNvPr name="TextBox 5" id="5"/>
          <p:cNvSpPr txBox="true"/>
          <p:nvPr/>
        </p:nvSpPr>
        <p:spPr>
          <a:xfrm rot="0">
            <a:off x="2369741" y="1617882"/>
            <a:ext cx="10074424" cy="1120107"/>
          </a:xfrm>
          <a:prstGeom prst="rect">
            <a:avLst/>
          </a:prstGeom>
        </p:spPr>
        <p:txBody>
          <a:bodyPr anchor="t" rtlCol="false" tIns="0" lIns="0" bIns="0" rIns="0">
            <a:spAutoFit/>
          </a:bodyPr>
          <a:lstStyle/>
          <a:p>
            <a:pPr algn="l">
              <a:lnSpc>
                <a:spcPts val="8688"/>
              </a:lnSpc>
            </a:pPr>
            <a:r>
              <a:rPr lang="en-US" sz="7971">
                <a:solidFill>
                  <a:srgbClr val="FFFFFF"/>
                </a:solidFill>
                <a:latin typeface="Anton"/>
                <a:ea typeface="Anton"/>
                <a:cs typeface="Anton"/>
                <a:sym typeface="Anton"/>
              </a:rPr>
              <a:t>REGULATORY COMPLILANCE  </a:t>
            </a:r>
          </a:p>
        </p:txBody>
      </p:sp>
      <p:sp>
        <p:nvSpPr>
          <p:cNvPr name="TextBox 6" id="6"/>
          <p:cNvSpPr txBox="true"/>
          <p:nvPr/>
        </p:nvSpPr>
        <p:spPr>
          <a:xfrm rot="0">
            <a:off x="2369741" y="3555079"/>
            <a:ext cx="12502210" cy="3883038"/>
          </a:xfrm>
          <a:prstGeom prst="rect">
            <a:avLst/>
          </a:prstGeom>
        </p:spPr>
        <p:txBody>
          <a:bodyPr anchor="t" rtlCol="false" tIns="0" lIns="0" bIns="0" rIns="0">
            <a:spAutoFit/>
          </a:bodyPr>
          <a:lstStyle/>
          <a:p>
            <a:pPr algn="l">
              <a:lnSpc>
                <a:spcPts val="3849"/>
              </a:lnSpc>
              <a:spcBef>
                <a:spcPct val="0"/>
              </a:spcBef>
            </a:pPr>
            <a:r>
              <a:rPr lang="en-US" sz="2749">
                <a:solidFill>
                  <a:srgbClr val="FFFFFF"/>
                </a:solidFill>
                <a:latin typeface="Raleway"/>
                <a:ea typeface="Raleway"/>
                <a:cs typeface="Raleway"/>
                <a:sym typeface="Raleway"/>
              </a:rPr>
              <a:t>Regulatory compliance in AI means ensuring that AI systems follow all relevant laws, standards, and guidelines set by governments and industry bodies. This includes data protection laws like GDPR, ethical standards, and sector-specific regulations. Compliance helps prevent legal issues, protects user rights, and promotes fairness and transparency. It also involves proper documentation, audit trails, and risk assessments. By integrating compliance into the AI development process, organizations can avoid penalties, build public trust, and ensure responsible use of AI technologies.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1634" y="464631"/>
            <a:ext cx="3275935" cy="3287891"/>
          </a:xfrm>
          <a:custGeom>
            <a:avLst/>
            <a:gdLst/>
            <a:ahLst/>
            <a:cxnLst/>
            <a:rect r="r" b="b" t="t" l="l"/>
            <a:pathLst>
              <a:path h="3287891" w="3275935">
                <a:moveTo>
                  <a:pt x="0" y="0"/>
                </a:moveTo>
                <a:lnTo>
                  <a:pt x="3275935" y="0"/>
                </a:lnTo>
                <a:lnTo>
                  <a:pt x="3275935" y="3287891"/>
                </a:lnTo>
                <a:lnTo>
                  <a:pt x="0" y="32878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38164" y="2369954"/>
            <a:ext cx="13244894" cy="1121005"/>
          </a:xfrm>
          <a:prstGeom prst="rect">
            <a:avLst/>
          </a:prstGeom>
        </p:spPr>
        <p:txBody>
          <a:bodyPr anchor="t" rtlCol="false" tIns="0" lIns="0" bIns="0" rIns="0">
            <a:spAutoFit/>
          </a:bodyPr>
          <a:lstStyle/>
          <a:p>
            <a:pPr algn="ctr">
              <a:lnSpc>
                <a:spcPts val="8688"/>
              </a:lnSpc>
            </a:pPr>
            <a:r>
              <a:rPr lang="en-US" sz="7971">
                <a:solidFill>
                  <a:srgbClr val="FFFFFF"/>
                </a:solidFill>
                <a:latin typeface="Anton"/>
                <a:ea typeface="Anton"/>
                <a:cs typeface="Anton"/>
                <a:sym typeface="Anton"/>
              </a:rPr>
              <a:t>MODEL EXPLAINABILITY</a:t>
            </a:r>
          </a:p>
        </p:txBody>
      </p:sp>
      <p:sp>
        <p:nvSpPr>
          <p:cNvPr name="TextBox 5" id="5"/>
          <p:cNvSpPr txBox="true"/>
          <p:nvPr/>
        </p:nvSpPr>
        <p:spPr>
          <a:xfrm rot="0">
            <a:off x="4098276" y="4131616"/>
            <a:ext cx="12162943" cy="3462124"/>
          </a:xfrm>
          <a:prstGeom prst="rect">
            <a:avLst/>
          </a:prstGeom>
        </p:spPr>
        <p:txBody>
          <a:bodyPr anchor="t" rtlCol="false" tIns="0" lIns="0" bIns="0" rIns="0">
            <a:spAutoFit/>
          </a:bodyPr>
          <a:lstStyle/>
          <a:p>
            <a:pPr algn="just">
              <a:lnSpc>
                <a:spcPts val="3949"/>
              </a:lnSpc>
              <a:spcBef>
                <a:spcPct val="0"/>
              </a:spcBef>
            </a:pPr>
            <a:r>
              <a:rPr lang="en-US" sz="2820">
                <a:solidFill>
                  <a:srgbClr val="FFFFFF"/>
                </a:solidFill>
                <a:latin typeface="Raleway"/>
                <a:ea typeface="Raleway"/>
                <a:cs typeface="Raleway"/>
                <a:sym typeface="Raleway"/>
              </a:rPr>
              <a:t>Model explainability, also known as explainable AI (XAI), refers to the ability of a machine learning model to provide clear and understandable explanations for its decisions and predictions. It's about making complex AI models more transparent and interpretable to humans, enabling them to understand the reasoning behind the model's output. This is crucial for building trust in AI systems, fostering accountability, and addressing ethical concerns.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5790" y="698852"/>
            <a:ext cx="2551413" cy="3116230"/>
          </a:xfrm>
          <a:custGeom>
            <a:avLst/>
            <a:gdLst/>
            <a:ahLst/>
            <a:cxnLst/>
            <a:rect r="r" b="b" t="t" l="l"/>
            <a:pathLst>
              <a:path h="3116230" w="2551413">
                <a:moveTo>
                  <a:pt x="0" y="0"/>
                </a:moveTo>
                <a:lnTo>
                  <a:pt x="2551414" y="0"/>
                </a:lnTo>
                <a:lnTo>
                  <a:pt x="2551414" y="3116230"/>
                </a:lnTo>
                <a:lnTo>
                  <a:pt x="0" y="3116230"/>
                </a:lnTo>
                <a:lnTo>
                  <a:pt x="0" y="0"/>
                </a:lnTo>
                <a:close/>
              </a:path>
            </a:pathLst>
          </a:custGeom>
          <a:blipFill>
            <a:blip r:embed="rId4"/>
            <a:stretch>
              <a:fillRect l="0" t="0" r="0" b="0"/>
            </a:stretch>
          </a:blipFill>
        </p:spPr>
      </p:sp>
      <p:sp>
        <p:nvSpPr>
          <p:cNvPr name="TextBox 4" id="4"/>
          <p:cNvSpPr txBox="true"/>
          <p:nvPr/>
        </p:nvSpPr>
        <p:spPr>
          <a:xfrm rot="0">
            <a:off x="2336013" y="2694077"/>
            <a:ext cx="13244894" cy="1121005"/>
          </a:xfrm>
          <a:prstGeom prst="rect">
            <a:avLst/>
          </a:prstGeom>
        </p:spPr>
        <p:txBody>
          <a:bodyPr anchor="t" rtlCol="false" tIns="0" lIns="0" bIns="0" rIns="0">
            <a:spAutoFit/>
          </a:bodyPr>
          <a:lstStyle/>
          <a:p>
            <a:pPr algn="ctr">
              <a:lnSpc>
                <a:spcPts val="8688"/>
              </a:lnSpc>
            </a:pPr>
            <a:r>
              <a:rPr lang="en-US" sz="7971">
                <a:solidFill>
                  <a:srgbClr val="FFFFFF"/>
                </a:solidFill>
                <a:latin typeface="Anton"/>
                <a:ea typeface="Anton"/>
                <a:cs typeface="Anton"/>
                <a:sym typeface="Anton"/>
              </a:rPr>
              <a:t>CONTINUOUS MONITORING</a:t>
            </a:r>
          </a:p>
        </p:txBody>
      </p:sp>
      <p:sp>
        <p:nvSpPr>
          <p:cNvPr name="TextBox 5" id="5"/>
          <p:cNvSpPr txBox="true"/>
          <p:nvPr/>
        </p:nvSpPr>
        <p:spPr>
          <a:xfrm rot="0">
            <a:off x="4186253" y="4593642"/>
            <a:ext cx="11219214" cy="2557252"/>
          </a:xfrm>
          <a:prstGeom prst="rect">
            <a:avLst/>
          </a:prstGeom>
        </p:spPr>
        <p:txBody>
          <a:bodyPr anchor="t" rtlCol="false" tIns="0" lIns="0" bIns="0" rIns="0">
            <a:spAutoFit/>
          </a:bodyPr>
          <a:lstStyle/>
          <a:p>
            <a:pPr algn="ctr">
              <a:lnSpc>
                <a:spcPts val="4090"/>
              </a:lnSpc>
              <a:spcBef>
                <a:spcPct val="0"/>
              </a:spcBef>
            </a:pPr>
            <a:r>
              <a:rPr lang="en-US" sz="2921">
                <a:solidFill>
                  <a:srgbClr val="FFFFFF"/>
                </a:solidFill>
                <a:latin typeface="Raleway"/>
                <a:ea typeface="Raleway"/>
                <a:cs typeface="Raleway"/>
                <a:sym typeface="Raleway"/>
              </a:rPr>
              <a:t>Continuous monitoring is a real-time observation and analysis of various aspects, including cybersecurity, network performance, and operational efficiency, using automated tools and processes. It involves constantly collecting, analyzing, and acting on data to detect and mitigate potential issues promptly.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91010" y="1631616"/>
            <a:ext cx="13495782" cy="8229600"/>
          </a:xfrm>
          <a:custGeom>
            <a:avLst/>
            <a:gdLst/>
            <a:ahLst/>
            <a:cxnLst/>
            <a:rect r="r" b="b" t="t" l="l"/>
            <a:pathLst>
              <a:path h="8229600" w="13495782">
                <a:moveTo>
                  <a:pt x="0" y="0"/>
                </a:moveTo>
                <a:lnTo>
                  <a:pt x="13495783" y="0"/>
                </a:lnTo>
                <a:lnTo>
                  <a:pt x="13495783" y="8229600"/>
                </a:lnTo>
                <a:lnTo>
                  <a:pt x="0" y="8229600"/>
                </a:lnTo>
                <a:lnTo>
                  <a:pt x="0" y="0"/>
                </a:lnTo>
                <a:close/>
              </a:path>
            </a:pathLst>
          </a:custGeom>
          <a:blipFill>
            <a:blip r:embed="rId4"/>
            <a:stretch>
              <a:fillRect l="0" t="-1657" r="0" b="-1657"/>
            </a:stretch>
          </a:blipFill>
        </p:spPr>
      </p:sp>
      <p:sp>
        <p:nvSpPr>
          <p:cNvPr name="TextBox 4" id="4"/>
          <p:cNvSpPr txBox="true"/>
          <p:nvPr/>
        </p:nvSpPr>
        <p:spPr>
          <a:xfrm rot="0">
            <a:off x="1028700" y="1444273"/>
            <a:ext cx="8582029" cy="1120107"/>
          </a:xfrm>
          <a:prstGeom prst="rect">
            <a:avLst/>
          </a:prstGeom>
        </p:spPr>
        <p:txBody>
          <a:bodyPr anchor="t" rtlCol="false" tIns="0" lIns="0" bIns="0" rIns="0">
            <a:spAutoFit/>
          </a:bodyPr>
          <a:lstStyle/>
          <a:p>
            <a:pPr algn="l">
              <a:lnSpc>
                <a:spcPts val="8688"/>
              </a:lnSpc>
            </a:pPr>
            <a:r>
              <a:rPr lang="en-US" sz="7971">
                <a:solidFill>
                  <a:srgbClr val="FFFFFF"/>
                </a:solidFill>
                <a:latin typeface="Anton"/>
                <a:ea typeface="Anton"/>
                <a:cs typeface="Anton"/>
                <a:sym typeface="Anton"/>
              </a:rPr>
              <a:t>DATA PRIVACY IN AI </a:t>
            </a:r>
          </a:p>
        </p:txBody>
      </p:sp>
      <p:sp>
        <p:nvSpPr>
          <p:cNvPr name="TextBox 5" id="5"/>
          <p:cNvSpPr txBox="true"/>
          <p:nvPr/>
        </p:nvSpPr>
        <p:spPr>
          <a:xfrm rot="0">
            <a:off x="1201318" y="3331806"/>
            <a:ext cx="10172765" cy="4191847"/>
          </a:xfrm>
          <a:prstGeom prst="rect">
            <a:avLst/>
          </a:prstGeom>
        </p:spPr>
        <p:txBody>
          <a:bodyPr anchor="t" rtlCol="false" tIns="0" lIns="0" bIns="0" rIns="0">
            <a:spAutoFit/>
          </a:bodyPr>
          <a:lstStyle/>
          <a:p>
            <a:pPr algn="l">
              <a:lnSpc>
                <a:spcPts val="4153"/>
              </a:lnSpc>
              <a:spcBef>
                <a:spcPct val="0"/>
              </a:spcBef>
            </a:pPr>
            <a:r>
              <a:rPr lang="en-US" sz="2966">
                <a:solidFill>
                  <a:srgbClr val="FFFFFF"/>
                </a:solidFill>
                <a:latin typeface="Raleway"/>
                <a:ea typeface="Raleway"/>
                <a:cs typeface="Raleway"/>
                <a:sym typeface="Raleway"/>
              </a:rPr>
              <a:t>Data privacy in AI refers to the practices and concerns surrounding the ethical collection, storage, and use of personal information by artificial intelligence systems. It's about protecting individual data rights and ensuring confidentiality as AI algorithms process vast amounts of personal data. AI privacy is crucial because the data used to train AI models can include sensitive information like health records, financial data, and biometric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90085" y="-1796750"/>
            <a:ext cx="10260281" cy="8229600"/>
          </a:xfrm>
          <a:custGeom>
            <a:avLst/>
            <a:gdLst/>
            <a:ahLst/>
            <a:cxnLst/>
            <a:rect r="r" b="b" t="t" l="l"/>
            <a:pathLst>
              <a:path h="8229600" w="10260281">
                <a:moveTo>
                  <a:pt x="0" y="0"/>
                </a:moveTo>
                <a:lnTo>
                  <a:pt x="10260280" y="0"/>
                </a:lnTo>
                <a:lnTo>
                  <a:pt x="10260280" y="8229600"/>
                </a:lnTo>
                <a:lnTo>
                  <a:pt x="0" y="8229600"/>
                </a:lnTo>
                <a:lnTo>
                  <a:pt x="0" y="0"/>
                </a:lnTo>
                <a:close/>
              </a:path>
            </a:pathLst>
          </a:custGeom>
          <a:blipFill>
            <a:blip r:embed="rId4"/>
            <a:stretch>
              <a:fillRect l="0" t="0" r="0" b="0"/>
            </a:stretch>
          </a:blipFill>
        </p:spPr>
      </p:sp>
      <p:sp>
        <p:nvSpPr>
          <p:cNvPr name="TextBox 4" id="4"/>
          <p:cNvSpPr txBox="true"/>
          <p:nvPr/>
        </p:nvSpPr>
        <p:spPr>
          <a:xfrm rot="0">
            <a:off x="1191774" y="1609857"/>
            <a:ext cx="10787887" cy="1120107"/>
          </a:xfrm>
          <a:prstGeom prst="rect">
            <a:avLst/>
          </a:prstGeom>
        </p:spPr>
        <p:txBody>
          <a:bodyPr anchor="t" rtlCol="false" tIns="0" lIns="0" bIns="0" rIns="0">
            <a:spAutoFit/>
          </a:bodyPr>
          <a:lstStyle/>
          <a:p>
            <a:pPr algn="l">
              <a:lnSpc>
                <a:spcPts val="8688"/>
              </a:lnSpc>
            </a:pPr>
            <a:r>
              <a:rPr lang="en-US" sz="7971">
                <a:solidFill>
                  <a:srgbClr val="FFFFFF"/>
                </a:solidFill>
                <a:latin typeface="Anton"/>
                <a:ea typeface="Anton"/>
                <a:cs typeface="Anton"/>
                <a:sym typeface="Anton"/>
              </a:rPr>
              <a:t>BIAS AND FAIRNESS </a:t>
            </a:r>
          </a:p>
        </p:txBody>
      </p:sp>
      <p:sp>
        <p:nvSpPr>
          <p:cNvPr name="TextBox 5" id="5"/>
          <p:cNvSpPr txBox="true"/>
          <p:nvPr/>
        </p:nvSpPr>
        <p:spPr>
          <a:xfrm rot="0">
            <a:off x="1191774" y="3413250"/>
            <a:ext cx="14444460" cy="4358864"/>
          </a:xfrm>
          <a:prstGeom prst="rect">
            <a:avLst/>
          </a:prstGeom>
        </p:spPr>
        <p:txBody>
          <a:bodyPr anchor="t" rtlCol="false" tIns="0" lIns="0" bIns="0" rIns="0">
            <a:spAutoFit/>
          </a:bodyPr>
          <a:lstStyle/>
          <a:p>
            <a:pPr algn="l">
              <a:lnSpc>
                <a:spcPts val="4607"/>
              </a:lnSpc>
            </a:pPr>
            <a:r>
              <a:rPr lang="en-US" sz="3291">
                <a:solidFill>
                  <a:srgbClr val="FFFFFF"/>
                </a:solidFill>
                <a:latin typeface="Raleway"/>
                <a:ea typeface="Raleway"/>
                <a:cs typeface="Raleway"/>
                <a:sym typeface="Raleway"/>
              </a:rPr>
              <a:t>Bias in AI occurs when the system produces unfair or prejudiced outcomes due to imbalanced or flawed training data. It can lead to discrimination against certain groups and affect decision-making in areas like hiring, lending, or law enforcement.</a:t>
            </a:r>
          </a:p>
          <a:p>
            <a:pPr algn="l">
              <a:lnSpc>
                <a:spcPts val="3602"/>
              </a:lnSpc>
            </a:pPr>
          </a:p>
          <a:p>
            <a:pPr algn="l">
              <a:lnSpc>
                <a:spcPts val="4187"/>
              </a:lnSpc>
              <a:spcBef>
                <a:spcPct val="0"/>
              </a:spcBef>
            </a:pPr>
            <a:r>
              <a:rPr lang="en-US" sz="2991">
                <a:solidFill>
                  <a:srgbClr val="FFFFFF"/>
                </a:solidFill>
                <a:latin typeface="Raleway"/>
                <a:ea typeface="Raleway"/>
                <a:cs typeface="Raleway"/>
                <a:sym typeface="Raleway"/>
              </a:rPr>
              <a:t>Fairness in AI means ensuring that all individuals are treated equally and that AI decisions do not favor or harm any specific group. It involves using diverse data, testing for bias, and adjusting models to promote equality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04724" y="4633913"/>
            <a:ext cx="4383276" cy="4114800"/>
          </a:xfrm>
          <a:custGeom>
            <a:avLst/>
            <a:gdLst/>
            <a:ahLst/>
            <a:cxnLst/>
            <a:rect r="r" b="b" t="t" l="l"/>
            <a:pathLst>
              <a:path h="4114800" w="4383276">
                <a:moveTo>
                  <a:pt x="0" y="0"/>
                </a:moveTo>
                <a:lnTo>
                  <a:pt x="4383276" y="0"/>
                </a:lnTo>
                <a:lnTo>
                  <a:pt x="43832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4619" y="5687058"/>
            <a:ext cx="6420174" cy="2439666"/>
          </a:xfrm>
          <a:custGeom>
            <a:avLst/>
            <a:gdLst/>
            <a:ahLst/>
            <a:cxnLst/>
            <a:rect r="r" b="b" t="t" l="l"/>
            <a:pathLst>
              <a:path h="2439666" w="6420174">
                <a:moveTo>
                  <a:pt x="0" y="0"/>
                </a:moveTo>
                <a:lnTo>
                  <a:pt x="6420174" y="0"/>
                </a:lnTo>
                <a:lnTo>
                  <a:pt x="6420174" y="2439666"/>
                </a:lnTo>
                <a:lnTo>
                  <a:pt x="0" y="2439666"/>
                </a:lnTo>
                <a:lnTo>
                  <a:pt x="0" y="0"/>
                </a:lnTo>
                <a:close/>
              </a:path>
            </a:pathLst>
          </a:custGeom>
          <a:blipFill>
            <a:blip r:embed="rId6"/>
            <a:stretch>
              <a:fillRect l="0" t="0" r="0" b="0"/>
            </a:stretch>
          </a:blipFill>
        </p:spPr>
      </p:sp>
      <p:sp>
        <p:nvSpPr>
          <p:cNvPr name="TextBox 5" id="5"/>
          <p:cNvSpPr txBox="true"/>
          <p:nvPr/>
        </p:nvSpPr>
        <p:spPr>
          <a:xfrm rot="0">
            <a:off x="1028700" y="902678"/>
            <a:ext cx="7314234" cy="1120430"/>
          </a:xfrm>
          <a:prstGeom prst="rect">
            <a:avLst/>
          </a:prstGeom>
        </p:spPr>
        <p:txBody>
          <a:bodyPr anchor="t" rtlCol="false" tIns="0" lIns="0" bIns="0" rIns="0">
            <a:spAutoFit/>
          </a:bodyPr>
          <a:lstStyle/>
          <a:p>
            <a:pPr algn="l">
              <a:lnSpc>
                <a:spcPts val="8643"/>
              </a:lnSpc>
            </a:pPr>
            <a:r>
              <a:rPr lang="en-US" sz="7929">
                <a:solidFill>
                  <a:srgbClr val="FFFFFF"/>
                </a:solidFill>
                <a:latin typeface="Anton"/>
                <a:ea typeface="Anton"/>
                <a:cs typeface="Anton"/>
                <a:sym typeface="Anton"/>
              </a:rPr>
              <a:t>AI TRISM IN ACTION </a:t>
            </a:r>
          </a:p>
        </p:txBody>
      </p:sp>
      <p:sp>
        <p:nvSpPr>
          <p:cNvPr name="TextBox 6" id="6"/>
          <p:cNvSpPr txBox="true"/>
          <p:nvPr/>
        </p:nvSpPr>
        <p:spPr>
          <a:xfrm rot="0">
            <a:off x="1466773" y="2356924"/>
            <a:ext cx="14393428" cy="6717042"/>
          </a:xfrm>
          <a:prstGeom prst="rect">
            <a:avLst/>
          </a:prstGeom>
        </p:spPr>
        <p:txBody>
          <a:bodyPr anchor="t" rtlCol="false" tIns="0" lIns="0" bIns="0" rIns="0">
            <a:spAutoFit/>
          </a:bodyPr>
          <a:lstStyle/>
          <a:p>
            <a:pPr algn="l">
              <a:lnSpc>
                <a:spcPts val="3569"/>
              </a:lnSpc>
            </a:pPr>
            <a:r>
              <a:rPr lang="en-US" sz="2549" b="true">
                <a:solidFill>
                  <a:srgbClr val="FFFFFF"/>
                </a:solidFill>
                <a:latin typeface="Raleway Bold"/>
                <a:ea typeface="Raleway Bold"/>
                <a:cs typeface="Raleway Bold"/>
                <a:sym typeface="Raleway Bold"/>
              </a:rPr>
              <a:t>Healthcare</a:t>
            </a:r>
          </a:p>
          <a:p>
            <a:pPr algn="l">
              <a:lnSpc>
                <a:spcPts val="3569"/>
              </a:lnSpc>
            </a:pPr>
            <a:r>
              <a:rPr lang="en-US" sz="2549">
                <a:solidFill>
                  <a:srgbClr val="FFFFFF"/>
                </a:solidFill>
                <a:latin typeface="Raleway"/>
                <a:ea typeface="Raleway"/>
                <a:cs typeface="Raleway"/>
                <a:sym typeface="Raleway"/>
              </a:rPr>
              <a:t>1. Explainable diagnosis suggestions: AI systems provide transparent and interpretable diagnosis suggestions, enabling doctors to understand the reasoning behind the recommendations.</a:t>
            </a:r>
          </a:p>
          <a:p>
            <a:pPr algn="l">
              <a:lnSpc>
                <a:spcPts val="3569"/>
              </a:lnSpc>
            </a:pPr>
            <a:r>
              <a:rPr lang="en-US" sz="2549">
                <a:solidFill>
                  <a:srgbClr val="FFFFFF"/>
                </a:solidFill>
                <a:latin typeface="Raleway"/>
                <a:ea typeface="Raleway"/>
                <a:cs typeface="Raleway"/>
                <a:sym typeface="Raleway"/>
              </a:rPr>
              <a:t>2. Personalized medicine: AI TRiSM ensures that personalized treatment plans are fair, secure, and respectful of patient data.</a:t>
            </a:r>
          </a:p>
          <a:p>
            <a:pPr algn="l">
              <a:lnSpc>
                <a:spcPts val="3569"/>
              </a:lnSpc>
            </a:pPr>
          </a:p>
          <a:p>
            <a:pPr algn="l">
              <a:lnSpc>
                <a:spcPts val="3569"/>
              </a:lnSpc>
            </a:pPr>
            <a:r>
              <a:rPr lang="en-US" sz="2549" b="true">
                <a:solidFill>
                  <a:srgbClr val="FFFFFF"/>
                </a:solidFill>
                <a:latin typeface="Raleway Bold"/>
                <a:ea typeface="Raleway Bold"/>
                <a:cs typeface="Raleway Bold"/>
                <a:sym typeface="Raleway Bold"/>
              </a:rPr>
              <a:t>Finance</a:t>
            </a:r>
          </a:p>
          <a:p>
            <a:pPr algn="l">
              <a:lnSpc>
                <a:spcPts val="3569"/>
              </a:lnSpc>
            </a:pPr>
            <a:r>
              <a:rPr lang="en-US" sz="2549">
                <a:solidFill>
                  <a:srgbClr val="FFFFFF"/>
                </a:solidFill>
                <a:latin typeface="Raleway"/>
                <a:ea typeface="Raleway"/>
                <a:cs typeface="Raleway"/>
                <a:sym typeface="Raleway"/>
              </a:rPr>
              <a:t>1. Fraud detection with fair decisioning: AI-powered fraud detection systems are designed to detect suspicious activity while minimizing bias and ensuring fairness.</a:t>
            </a:r>
          </a:p>
          <a:p>
            <a:pPr algn="l">
              <a:lnSpc>
                <a:spcPts val="3569"/>
              </a:lnSpc>
            </a:pPr>
            <a:r>
              <a:rPr lang="en-US" sz="2549">
                <a:solidFill>
                  <a:srgbClr val="FFFFFF"/>
                </a:solidFill>
                <a:latin typeface="Raleway"/>
                <a:ea typeface="Raleway"/>
                <a:cs typeface="Raleway"/>
                <a:sym typeface="Raleway"/>
              </a:rPr>
              <a:t>2. Risk assessment: AI TRiSM enables financial institutions to assess risk while maintaining transparency and accountability.</a:t>
            </a:r>
          </a:p>
          <a:p>
            <a:pPr algn="l">
              <a:lnSpc>
                <a:spcPts val="3569"/>
              </a:lnSpc>
            </a:pPr>
          </a:p>
          <a:p>
            <a:pPr algn="l">
              <a:lnSpc>
                <a:spcPts val="3569"/>
              </a:lnSpc>
            </a:pPr>
            <a:r>
              <a:rPr lang="en-US" sz="2549" b="true">
                <a:solidFill>
                  <a:srgbClr val="FFFFFF"/>
                </a:solidFill>
                <a:latin typeface="Raleway Bold"/>
                <a:ea typeface="Raleway Bold"/>
                <a:cs typeface="Raleway Bold"/>
                <a:sym typeface="Raleway Bold"/>
              </a:rPr>
              <a:t>HR</a:t>
            </a:r>
          </a:p>
          <a:p>
            <a:pPr algn="l">
              <a:lnSpc>
                <a:spcPts val="3569"/>
              </a:lnSpc>
              <a:spcBef>
                <a:spcPct val="0"/>
              </a:spcBef>
            </a:pPr>
            <a:r>
              <a:rPr lang="en-US" sz="2549">
                <a:solidFill>
                  <a:srgbClr val="FFFFFF"/>
                </a:solidFill>
                <a:latin typeface="Raleway"/>
                <a:ea typeface="Raleway"/>
                <a:cs typeface="Raleway"/>
                <a:sym typeface="Raleway"/>
              </a:rPr>
              <a:t>1. Bias-free hiring: AI-powered recruitment tools are designed to minimize bias and ensure fairness in the hiring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72350" y="1940108"/>
            <a:ext cx="11589850" cy="2119101"/>
          </a:xfrm>
          <a:custGeom>
            <a:avLst/>
            <a:gdLst/>
            <a:ahLst/>
            <a:cxnLst/>
            <a:rect r="r" b="b" t="t" l="l"/>
            <a:pathLst>
              <a:path h="2119101" w="11589850">
                <a:moveTo>
                  <a:pt x="0" y="0"/>
                </a:moveTo>
                <a:lnTo>
                  <a:pt x="11589850" y="0"/>
                </a:lnTo>
                <a:lnTo>
                  <a:pt x="11589850" y="2119100"/>
                </a:lnTo>
                <a:lnTo>
                  <a:pt x="0" y="2119100"/>
                </a:lnTo>
                <a:lnTo>
                  <a:pt x="0" y="0"/>
                </a:lnTo>
                <a:close/>
              </a:path>
            </a:pathLst>
          </a:custGeom>
          <a:blipFill>
            <a:blip r:embed="rId4"/>
            <a:stretch>
              <a:fillRect l="0" t="0" r="0" b="0"/>
            </a:stretch>
          </a:blipFill>
        </p:spPr>
      </p:sp>
      <p:sp>
        <p:nvSpPr>
          <p:cNvPr name="Freeform 4" id="4"/>
          <p:cNvSpPr/>
          <p:nvPr/>
        </p:nvSpPr>
        <p:spPr>
          <a:xfrm flipH="false" flipV="false" rot="0">
            <a:off x="2882937" y="3127487"/>
            <a:ext cx="1471528" cy="1454974"/>
          </a:xfrm>
          <a:custGeom>
            <a:avLst/>
            <a:gdLst/>
            <a:ahLst/>
            <a:cxnLst/>
            <a:rect r="r" b="b" t="t" l="l"/>
            <a:pathLst>
              <a:path h="1454974" w="1471528">
                <a:moveTo>
                  <a:pt x="0" y="0"/>
                </a:moveTo>
                <a:lnTo>
                  <a:pt x="1471528" y="0"/>
                </a:lnTo>
                <a:lnTo>
                  <a:pt x="1471528" y="1454974"/>
                </a:lnTo>
                <a:lnTo>
                  <a:pt x="0" y="1454974"/>
                </a:lnTo>
                <a:lnTo>
                  <a:pt x="0" y="0"/>
                </a:lnTo>
                <a:close/>
              </a:path>
            </a:pathLst>
          </a:custGeom>
          <a:blipFill>
            <a:blip r:embed="rId5">
              <a:alphaModFix amt="29000"/>
            </a:blip>
            <a:stretch>
              <a:fillRect l="0" t="0" r="0" b="0"/>
            </a:stretch>
          </a:blipFill>
        </p:spPr>
      </p:sp>
      <p:sp>
        <p:nvSpPr>
          <p:cNvPr name="TextBox 5" id="5"/>
          <p:cNvSpPr txBox="true"/>
          <p:nvPr/>
        </p:nvSpPr>
        <p:spPr>
          <a:xfrm rot="0">
            <a:off x="4300907" y="2553111"/>
            <a:ext cx="10132737" cy="969295"/>
          </a:xfrm>
          <a:prstGeom prst="rect">
            <a:avLst/>
          </a:prstGeom>
        </p:spPr>
        <p:txBody>
          <a:bodyPr anchor="t" rtlCol="false" tIns="0" lIns="0" bIns="0" rIns="0">
            <a:spAutoFit/>
          </a:bodyPr>
          <a:lstStyle/>
          <a:p>
            <a:pPr algn="ctr">
              <a:lnSpc>
                <a:spcPts val="7485"/>
              </a:lnSpc>
            </a:pPr>
            <a:r>
              <a:rPr lang="en-US" sz="6867">
                <a:solidFill>
                  <a:srgbClr val="FFFFFF"/>
                </a:solidFill>
                <a:latin typeface="Anton"/>
                <a:ea typeface="Anton"/>
                <a:cs typeface="Anton"/>
                <a:sym typeface="Anton"/>
              </a:rPr>
              <a:t> BENEFITS OF AI TRISM</a:t>
            </a:r>
          </a:p>
        </p:txBody>
      </p:sp>
      <p:sp>
        <p:nvSpPr>
          <p:cNvPr name="Freeform 6" id="6"/>
          <p:cNvSpPr/>
          <p:nvPr/>
        </p:nvSpPr>
        <p:spPr>
          <a:xfrm flipH="false" flipV="false" rot="0">
            <a:off x="14380085" y="1268003"/>
            <a:ext cx="1471528" cy="1454974"/>
          </a:xfrm>
          <a:custGeom>
            <a:avLst/>
            <a:gdLst/>
            <a:ahLst/>
            <a:cxnLst/>
            <a:rect r="r" b="b" t="t" l="l"/>
            <a:pathLst>
              <a:path h="1454974" w="1471528">
                <a:moveTo>
                  <a:pt x="0" y="0"/>
                </a:moveTo>
                <a:lnTo>
                  <a:pt x="1471529" y="0"/>
                </a:lnTo>
                <a:lnTo>
                  <a:pt x="1471529" y="1454973"/>
                </a:lnTo>
                <a:lnTo>
                  <a:pt x="0" y="1454973"/>
                </a:lnTo>
                <a:lnTo>
                  <a:pt x="0" y="0"/>
                </a:lnTo>
                <a:close/>
              </a:path>
            </a:pathLst>
          </a:custGeom>
          <a:blipFill>
            <a:blip r:embed="rId5">
              <a:alphaModFix amt="29000"/>
            </a:blip>
            <a:stretch>
              <a:fillRect l="0" t="0" r="0" b="0"/>
            </a:stretch>
          </a:blipFill>
        </p:spPr>
      </p:sp>
      <p:sp>
        <p:nvSpPr>
          <p:cNvPr name="Freeform 7" id="7"/>
          <p:cNvSpPr/>
          <p:nvPr/>
        </p:nvSpPr>
        <p:spPr>
          <a:xfrm flipH="false" flipV="false" rot="0">
            <a:off x="15344434" y="5683897"/>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
        <p:nvSpPr>
          <p:cNvPr name="TextBox 8" id="8"/>
          <p:cNvSpPr txBox="true"/>
          <p:nvPr/>
        </p:nvSpPr>
        <p:spPr>
          <a:xfrm rot="0">
            <a:off x="3439555" y="5076825"/>
            <a:ext cx="12968677" cy="2061223"/>
          </a:xfrm>
          <a:prstGeom prst="rect">
            <a:avLst/>
          </a:prstGeom>
        </p:spPr>
        <p:txBody>
          <a:bodyPr anchor="t" rtlCol="false" tIns="0" lIns="0" bIns="0" rIns="0">
            <a:spAutoFit/>
          </a:bodyPr>
          <a:lstStyle/>
          <a:p>
            <a:pPr algn="l">
              <a:lnSpc>
                <a:spcPts val="4269"/>
              </a:lnSpc>
            </a:pPr>
            <a:r>
              <a:rPr lang="en-US" sz="3049">
                <a:solidFill>
                  <a:srgbClr val="FFFFFF"/>
                </a:solidFill>
                <a:latin typeface="Raleway"/>
                <a:ea typeface="Raleway"/>
                <a:cs typeface="Raleway"/>
                <a:sym typeface="Raleway"/>
              </a:rPr>
              <a:t>1. Increases trust: Builds confidence among users.</a:t>
            </a:r>
          </a:p>
          <a:p>
            <a:pPr algn="l">
              <a:lnSpc>
                <a:spcPts val="4269"/>
              </a:lnSpc>
            </a:pPr>
            <a:r>
              <a:rPr lang="en-US" sz="3049">
                <a:solidFill>
                  <a:srgbClr val="FFFFFF"/>
                </a:solidFill>
                <a:latin typeface="Raleway"/>
                <a:ea typeface="Raleway"/>
                <a:cs typeface="Raleway"/>
                <a:sym typeface="Raleway"/>
              </a:rPr>
              <a:t>2. Reduces risk: Minimizes errors and biases.</a:t>
            </a:r>
          </a:p>
          <a:p>
            <a:pPr algn="l">
              <a:lnSpc>
                <a:spcPts val="4269"/>
              </a:lnSpc>
            </a:pPr>
            <a:r>
              <a:rPr lang="en-US" sz="3049">
                <a:solidFill>
                  <a:srgbClr val="FFFFFF"/>
                </a:solidFill>
                <a:latin typeface="Raleway"/>
                <a:ea typeface="Raleway"/>
                <a:cs typeface="Raleway"/>
                <a:sym typeface="Raleway"/>
              </a:rPr>
              <a:t>3. Promotes innovation: Encourages responsible AI development.</a:t>
            </a:r>
          </a:p>
          <a:p>
            <a:pPr algn="ctr">
              <a:lnSpc>
                <a:spcPts val="3709"/>
              </a:lnSpc>
              <a:spcBef>
                <a:spcPct val="0"/>
              </a:spcBef>
            </a:pPr>
          </a:p>
        </p:txBody>
      </p:sp>
      <p:sp>
        <p:nvSpPr>
          <p:cNvPr name="Freeform 9" id="9"/>
          <p:cNvSpPr/>
          <p:nvPr/>
        </p:nvSpPr>
        <p:spPr>
          <a:xfrm flipH="false" flipV="false" rot="0">
            <a:off x="-886166" y="1940108"/>
            <a:ext cx="3829732" cy="3829732"/>
          </a:xfrm>
          <a:custGeom>
            <a:avLst/>
            <a:gdLst/>
            <a:ahLst/>
            <a:cxnLst/>
            <a:rect r="r" b="b" t="t" l="l"/>
            <a:pathLst>
              <a:path h="3829732" w="3829732">
                <a:moveTo>
                  <a:pt x="0" y="0"/>
                </a:moveTo>
                <a:lnTo>
                  <a:pt x="3829732" y="0"/>
                </a:lnTo>
                <a:lnTo>
                  <a:pt x="3829732" y="3829732"/>
                </a:lnTo>
                <a:lnTo>
                  <a:pt x="0" y="3829732"/>
                </a:lnTo>
                <a:lnTo>
                  <a:pt x="0" y="0"/>
                </a:lnTo>
                <a:close/>
              </a:path>
            </a:pathLst>
          </a:custGeom>
          <a:blipFill>
            <a:blip r:embed="rId6"/>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89324" y="2105297"/>
            <a:ext cx="7554676" cy="6355371"/>
          </a:xfrm>
          <a:custGeom>
            <a:avLst/>
            <a:gdLst/>
            <a:ahLst/>
            <a:cxnLst/>
            <a:rect r="r" b="b" t="t" l="l"/>
            <a:pathLst>
              <a:path h="6355371" w="7554676">
                <a:moveTo>
                  <a:pt x="0" y="0"/>
                </a:moveTo>
                <a:lnTo>
                  <a:pt x="7554676" y="0"/>
                </a:lnTo>
                <a:lnTo>
                  <a:pt x="7554676" y="6355371"/>
                </a:lnTo>
                <a:lnTo>
                  <a:pt x="0" y="6355371"/>
                </a:lnTo>
                <a:lnTo>
                  <a:pt x="0" y="0"/>
                </a:lnTo>
                <a:close/>
              </a:path>
            </a:pathLst>
          </a:custGeom>
          <a:blipFill>
            <a:blip r:embed="rId4"/>
            <a:stretch>
              <a:fillRect l="0" t="0" r="0" b="0"/>
            </a:stretch>
          </a:blipFill>
        </p:spPr>
      </p:sp>
      <p:sp>
        <p:nvSpPr>
          <p:cNvPr name="Freeform 4" id="4"/>
          <p:cNvSpPr/>
          <p:nvPr/>
        </p:nvSpPr>
        <p:spPr>
          <a:xfrm flipH="false" flipV="false" rot="0">
            <a:off x="0" y="5779270"/>
            <a:ext cx="2471566" cy="2840881"/>
          </a:xfrm>
          <a:custGeom>
            <a:avLst/>
            <a:gdLst/>
            <a:ahLst/>
            <a:cxnLst/>
            <a:rect r="r" b="b" t="t" l="l"/>
            <a:pathLst>
              <a:path h="2840881" w="2471566">
                <a:moveTo>
                  <a:pt x="0" y="0"/>
                </a:moveTo>
                <a:lnTo>
                  <a:pt x="2471566" y="0"/>
                </a:lnTo>
                <a:lnTo>
                  <a:pt x="2471566" y="2840881"/>
                </a:lnTo>
                <a:lnTo>
                  <a:pt x="0" y="2840881"/>
                </a:lnTo>
                <a:lnTo>
                  <a:pt x="0" y="0"/>
                </a:lnTo>
                <a:close/>
              </a:path>
            </a:pathLst>
          </a:custGeom>
          <a:blipFill>
            <a:blip r:embed="rId5"/>
            <a:stretch>
              <a:fillRect l="0" t="0" r="0" b="0"/>
            </a:stretch>
          </a:blipFill>
        </p:spPr>
      </p:sp>
      <p:sp>
        <p:nvSpPr>
          <p:cNvPr name="Freeform 5" id="5"/>
          <p:cNvSpPr/>
          <p:nvPr/>
        </p:nvSpPr>
        <p:spPr>
          <a:xfrm flipH="false" flipV="false" rot="0">
            <a:off x="16813855" y="0"/>
            <a:ext cx="2471566" cy="2840881"/>
          </a:xfrm>
          <a:custGeom>
            <a:avLst/>
            <a:gdLst/>
            <a:ahLst/>
            <a:cxnLst/>
            <a:rect r="r" b="b" t="t" l="l"/>
            <a:pathLst>
              <a:path h="2840881" w="2471566">
                <a:moveTo>
                  <a:pt x="0" y="0"/>
                </a:moveTo>
                <a:lnTo>
                  <a:pt x="2471567" y="0"/>
                </a:lnTo>
                <a:lnTo>
                  <a:pt x="2471567" y="2840881"/>
                </a:lnTo>
                <a:lnTo>
                  <a:pt x="0" y="2840881"/>
                </a:lnTo>
                <a:lnTo>
                  <a:pt x="0" y="0"/>
                </a:lnTo>
                <a:close/>
              </a:path>
            </a:pathLst>
          </a:custGeom>
          <a:blipFill>
            <a:blip r:embed="rId5"/>
            <a:stretch>
              <a:fillRect l="0" t="0" r="0" b="0"/>
            </a:stretch>
          </a:blipFill>
        </p:spPr>
      </p:sp>
      <p:sp>
        <p:nvSpPr>
          <p:cNvPr name="Freeform 6" id="6"/>
          <p:cNvSpPr/>
          <p:nvPr/>
        </p:nvSpPr>
        <p:spPr>
          <a:xfrm flipH="false" flipV="false" rot="0">
            <a:off x="1589324" y="2885694"/>
            <a:ext cx="7315200" cy="3848727"/>
          </a:xfrm>
          <a:custGeom>
            <a:avLst/>
            <a:gdLst/>
            <a:ahLst/>
            <a:cxnLst/>
            <a:rect r="r" b="b" t="t" l="l"/>
            <a:pathLst>
              <a:path h="3848727" w="7315200">
                <a:moveTo>
                  <a:pt x="0" y="0"/>
                </a:moveTo>
                <a:lnTo>
                  <a:pt x="7315200" y="0"/>
                </a:lnTo>
                <a:lnTo>
                  <a:pt x="7315200" y="3848727"/>
                </a:lnTo>
                <a:lnTo>
                  <a:pt x="0" y="3848727"/>
                </a:lnTo>
                <a:lnTo>
                  <a:pt x="0" y="0"/>
                </a:lnTo>
                <a:close/>
              </a:path>
            </a:pathLst>
          </a:custGeom>
          <a:blipFill>
            <a:blip r:embed="rId6">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9847933" y="2340775"/>
            <a:ext cx="6778939" cy="1926125"/>
          </a:xfrm>
          <a:prstGeom prst="rect">
            <a:avLst/>
          </a:prstGeom>
        </p:spPr>
        <p:txBody>
          <a:bodyPr anchor="t" rtlCol="false" tIns="0" lIns="0" bIns="0" rIns="0">
            <a:spAutoFit/>
          </a:bodyPr>
          <a:lstStyle/>
          <a:p>
            <a:pPr algn="l">
              <a:lnSpc>
                <a:spcPts val="15720"/>
              </a:lnSpc>
              <a:spcBef>
                <a:spcPct val="0"/>
              </a:spcBef>
            </a:pPr>
            <a:r>
              <a:rPr lang="en-US" sz="11228">
                <a:solidFill>
                  <a:srgbClr val="FFFFFF"/>
                </a:solidFill>
                <a:latin typeface="Anton"/>
                <a:ea typeface="Anton"/>
                <a:cs typeface="Anton"/>
                <a:sym typeface="Anton"/>
              </a:rPr>
              <a:t>CHALLENGES</a:t>
            </a:r>
          </a:p>
        </p:txBody>
      </p:sp>
      <p:sp>
        <p:nvSpPr>
          <p:cNvPr name="TextBox 8" id="8"/>
          <p:cNvSpPr txBox="true"/>
          <p:nvPr/>
        </p:nvSpPr>
        <p:spPr>
          <a:xfrm rot="0">
            <a:off x="9847933" y="4437876"/>
            <a:ext cx="7188645" cy="3811917"/>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1. Hard to understand: Some AI models are like black boxes, making it difficult to know how they make decisions.</a:t>
            </a:r>
          </a:p>
          <a:p>
            <a:pPr algn="l">
              <a:lnSpc>
                <a:spcPts val="3849"/>
              </a:lnSpc>
            </a:pPr>
            <a:r>
              <a:rPr lang="en-US" sz="2749">
                <a:solidFill>
                  <a:srgbClr val="FFFFFF"/>
                </a:solidFill>
                <a:latin typeface="Raleway"/>
                <a:ea typeface="Raleway"/>
                <a:cs typeface="Raleway"/>
                <a:sym typeface="Raleway"/>
              </a:rPr>
              <a:t>2. Lack of trust: If we don't understand how AI works, we might not trust its decisions.</a:t>
            </a:r>
          </a:p>
          <a:p>
            <a:pPr algn="l">
              <a:lnSpc>
                <a:spcPts val="3849"/>
              </a:lnSpc>
            </a:pPr>
            <a:r>
              <a:rPr lang="en-US" sz="2749">
                <a:solidFill>
                  <a:srgbClr val="FFFFFF"/>
                </a:solidFill>
                <a:latin typeface="Raleway"/>
                <a:ea typeface="Raleway"/>
                <a:cs typeface="Raleway"/>
                <a:sym typeface="Raleway"/>
              </a:rPr>
              <a:t>3. Regulatory issues: Some industries require explanations for AI decisions.</a:t>
            </a:r>
          </a:p>
          <a:p>
            <a:pPr algn="l">
              <a:lnSpc>
                <a:spcPts val="328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30155" y="2420023"/>
            <a:ext cx="12163158" cy="962716"/>
          </a:xfrm>
          <a:prstGeom prst="rect">
            <a:avLst/>
          </a:prstGeom>
        </p:spPr>
        <p:txBody>
          <a:bodyPr anchor="t" rtlCol="false" tIns="0" lIns="0" bIns="0" rIns="0">
            <a:spAutoFit/>
          </a:bodyPr>
          <a:lstStyle/>
          <a:p>
            <a:pPr algn="l">
              <a:lnSpc>
                <a:spcPts val="7485"/>
              </a:lnSpc>
            </a:pPr>
            <a:r>
              <a:rPr lang="en-US" sz="6867">
                <a:solidFill>
                  <a:srgbClr val="FFFFFF"/>
                </a:solidFill>
                <a:latin typeface="Anton"/>
                <a:ea typeface="Anton"/>
                <a:cs typeface="Anton"/>
                <a:sym typeface="Anton"/>
              </a:rPr>
              <a:t> TOOLS &amp; TECHNIQUES FOR AI TRISM</a:t>
            </a:r>
          </a:p>
        </p:txBody>
      </p:sp>
      <p:sp>
        <p:nvSpPr>
          <p:cNvPr name="Freeform 4" id="4"/>
          <p:cNvSpPr/>
          <p:nvPr/>
        </p:nvSpPr>
        <p:spPr>
          <a:xfrm flipH="false" flipV="false" rot="0">
            <a:off x="-889149" y="2343823"/>
            <a:ext cx="7153125" cy="6255802"/>
          </a:xfrm>
          <a:custGeom>
            <a:avLst/>
            <a:gdLst/>
            <a:ahLst/>
            <a:cxnLst/>
            <a:rect r="r" b="b" t="t" l="l"/>
            <a:pathLst>
              <a:path h="6255802" w="7153125">
                <a:moveTo>
                  <a:pt x="0" y="0"/>
                </a:moveTo>
                <a:lnTo>
                  <a:pt x="7153125" y="0"/>
                </a:lnTo>
                <a:lnTo>
                  <a:pt x="7153125" y="6255802"/>
                </a:lnTo>
                <a:lnTo>
                  <a:pt x="0" y="6255802"/>
                </a:lnTo>
                <a:lnTo>
                  <a:pt x="0" y="0"/>
                </a:lnTo>
                <a:close/>
              </a:path>
            </a:pathLst>
          </a:custGeom>
          <a:blipFill>
            <a:blip r:embed="rId4"/>
            <a:stretch>
              <a:fillRect l="0" t="0" r="0" b="0"/>
            </a:stretch>
          </a:blipFill>
        </p:spPr>
      </p:sp>
      <p:sp>
        <p:nvSpPr>
          <p:cNvPr name="TextBox 5" id="5"/>
          <p:cNvSpPr txBox="true"/>
          <p:nvPr/>
        </p:nvSpPr>
        <p:spPr>
          <a:xfrm rot="0">
            <a:off x="6597604" y="4493834"/>
            <a:ext cx="10028260" cy="2840367"/>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1. Model monitoring: Tracks AI performance.</a:t>
            </a:r>
          </a:p>
          <a:p>
            <a:pPr algn="l">
              <a:lnSpc>
                <a:spcPts val="3849"/>
              </a:lnSpc>
            </a:pPr>
            <a:r>
              <a:rPr lang="en-US" sz="2749">
                <a:solidFill>
                  <a:srgbClr val="FFFFFF"/>
                </a:solidFill>
                <a:latin typeface="Raleway"/>
                <a:ea typeface="Raleway"/>
                <a:cs typeface="Raleway"/>
                <a:sym typeface="Raleway"/>
              </a:rPr>
              <a:t>2. Explainable AI: Provides insights into AI decisions.</a:t>
            </a:r>
          </a:p>
          <a:p>
            <a:pPr algn="l">
              <a:lnSpc>
                <a:spcPts val="3849"/>
              </a:lnSpc>
            </a:pPr>
            <a:r>
              <a:rPr lang="en-US" sz="2749">
                <a:solidFill>
                  <a:srgbClr val="FFFFFF"/>
                </a:solidFill>
                <a:latin typeface="Raleway"/>
                <a:ea typeface="Raleway"/>
                <a:cs typeface="Raleway"/>
                <a:sym typeface="Raleway"/>
              </a:rPr>
              <a:t>3. Fairness and bias detection: Identifies and mitigates biases.</a:t>
            </a:r>
          </a:p>
          <a:p>
            <a:pPr algn="l">
              <a:lnSpc>
                <a:spcPts val="3849"/>
              </a:lnSpc>
            </a:pPr>
          </a:p>
          <a:p>
            <a:pPr algn="l">
              <a:lnSpc>
                <a:spcPts val="3849"/>
              </a:lnSpc>
            </a:pPr>
          </a:p>
          <a:p>
            <a:pPr algn="l">
              <a:lnSpc>
                <a:spcPts val="3289"/>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5388">
            <a:off x="4187227" y="5365567"/>
            <a:ext cx="4032087" cy="3629631"/>
          </a:xfrm>
          <a:custGeom>
            <a:avLst/>
            <a:gdLst/>
            <a:ahLst/>
            <a:cxnLst/>
            <a:rect r="r" b="b" t="t" l="l"/>
            <a:pathLst>
              <a:path h="3629631" w="4032087">
                <a:moveTo>
                  <a:pt x="0" y="0"/>
                </a:moveTo>
                <a:lnTo>
                  <a:pt x="4032087" y="0"/>
                </a:lnTo>
                <a:lnTo>
                  <a:pt x="4032087" y="3629631"/>
                </a:lnTo>
                <a:lnTo>
                  <a:pt x="0" y="3629631"/>
                </a:lnTo>
                <a:lnTo>
                  <a:pt x="0" y="0"/>
                </a:lnTo>
                <a:close/>
              </a:path>
            </a:pathLst>
          </a:custGeom>
          <a:blipFill>
            <a:blip r:embed="rId4"/>
            <a:stretch>
              <a:fillRect l="0" t="0" r="0" b="0"/>
            </a:stretch>
          </a:blipFill>
        </p:spPr>
      </p:sp>
      <p:sp>
        <p:nvSpPr>
          <p:cNvPr name="Freeform 4" id="4"/>
          <p:cNvSpPr/>
          <p:nvPr/>
        </p:nvSpPr>
        <p:spPr>
          <a:xfrm flipH="false" flipV="false" rot="0">
            <a:off x="1028700" y="2586770"/>
            <a:ext cx="7218264" cy="5779329"/>
          </a:xfrm>
          <a:custGeom>
            <a:avLst/>
            <a:gdLst/>
            <a:ahLst/>
            <a:cxnLst/>
            <a:rect r="r" b="b" t="t" l="l"/>
            <a:pathLst>
              <a:path h="5779329" w="7218264">
                <a:moveTo>
                  <a:pt x="0" y="0"/>
                </a:moveTo>
                <a:lnTo>
                  <a:pt x="7218264" y="0"/>
                </a:lnTo>
                <a:lnTo>
                  <a:pt x="7218264" y="5779329"/>
                </a:lnTo>
                <a:lnTo>
                  <a:pt x="0" y="5779329"/>
                </a:lnTo>
                <a:lnTo>
                  <a:pt x="0" y="0"/>
                </a:lnTo>
                <a:close/>
              </a:path>
            </a:pathLst>
          </a:custGeom>
          <a:blipFill>
            <a:blip r:embed="rId5"/>
            <a:stretch>
              <a:fillRect l="0" t="0" r="0" b="0"/>
            </a:stretch>
          </a:blipFill>
        </p:spPr>
      </p:sp>
      <p:sp>
        <p:nvSpPr>
          <p:cNvPr name="TextBox 5" id="5"/>
          <p:cNvSpPr txBox="true"/>
          <p:nvPr/>
        </p:nvSpPr>
        <p:spPr>
          <a:xfrm rot="0">
            <a:off x="9144000" y="3127603"/>
            <a:ext cx="8293413" cy="1120107"/>
          </a:xfrm>
          <a:prstGeom prst="rect">
            <a:avLst/>
          </a:prstGeom>
        </p:spPr>
        <p:txBody>
          <a:bodyPr anchor="t" rtlCol="false" tIns="0" lIns="0" bIns="0" rIns="0">
            <a:spAutoFit/>
          </a:bodyPr>
          <a:lstStyle/>
          <a:p>
            <a:pPr algn="l">
              <a:lnSpc>
                <a:spcPts val="8688"/>
              </a:lnSpc>
            </a:pPr>
            <a:r>
              <a:rPr lang="en-US" sz="7971">
                <a:solidFill>
                  <a:srgbClr val="FFFFFF"/>
                </a:solidFill>
                <a:latin typeface="Anton"/>
                <a:ea typeface="Anton"/>
                <a:cs typeface="Anton"/>
                <a:sym typeface="Anton"/>
              </a:rPr>
              <a:t>FUTURE OF AI TRISM </a:t>
            </a:r>
          </a:p>
        </p:txBody>
      </p:sp>
      <p:sp>
        <p:nvSpPr>
          <p:cNvPr name="TextBox 6" id="6"/>
          <p:cNvSpPr txBox="true"/>
          <p:nvPr/>
        </p:nvSpPr>
        <p:spPr>
          <a:xfrm rot="0">
            <a:off x="9144000" y="5409760"/>
            <a:ext cx="7669855" cy="2425712"/>
          </a:xfrm>
          <a:prstGeom prst="rect">
            <a:avLst/>
          </a:prstGeom>
        </p:spPr>
        <p:txBody>
          <a:bodyPr anchor="t" rtlCol="false" tIns="0" lIns="0" bIns="0" rIns="0">
            <a:spAutoFit/>
          </a:bodyPr>
          <a:lstStyle/>
          <a:p>
            <a:pPr algn="l">
              <a:lnSpc>
                <a:spcPts val="3849"/>
              </a:lnSpc>
            </a:pPr>
            <a:r>
              <a:rPr lang="en-US" sz="2749">
                <a:solidFill>
                  <a:srgbClr val="FFFFFF"/>
                </a:solidFill>
                <a:latin typeface="Raleway"/>
                <a:ea typeface="Raleway"/>
                <a:cs typeface="Raleway"/>
                <a:sym typeface="Raleway"/>
              </a:rPr>
              <a:t>1. Future of AI: AI TRiSM will be essential for responsible AI development.</a:t>
            </a:r>
          </a:p>
          <a:p>
            <a:pPr algn="l">
              <a:lnSpc>
                <a:spcPts val="3849"/>
              </a:lnSpc>
            </a:pPr>
            <a:r>
              <a:rPr lang="en-US" sz="2749">
                <a:solidFill>
                  <a:srgbClr val="FFFFFF"/>
                </a:solidFill>
                <a:latin typeface="Raleway"/>
                <a:ea typeface="Raleway"/>
                <a:cs typeface="Raleway"/>
                <a:sym typeface="Raleway"/>
              </a:rPr>
              <a:t>2. Global adoption: Expect widespread adoption across industries.</a:t>
            </a:r>
          </a:p>
          <a:p>
            <a:pPr algn="l">
              <a:lnSpc>
                <a:spcPts val="384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812582" y="1077887"/>
            <a:ext cx="9782585" cy="8229600"/>
          </a:xfrm>
          <a:custGeom>
            <a:avLst/>
            <a:gdLst/>
            <a:ahLst/>
            <a:cxnLst/>
            <a:rect r="r" b="b" t="t" l="l"/>
            <a:pathLst>
              <a:path h="8229600" w="9782585">
                <a:moveTo>
                  <a:pt x="0" y="0"/>
                </a:moveTo>
                <a:lnTo>
                  <a:pt x="9782586" y="0"/>
                </a:lnTo>
                <a:lnTo>
                  <a:pt x="978258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6813855" y="9068185"/>
            <a:ext cx="445445" cy="445445"/>
          </a:xfrm>
          <a:custGeom>
            <a:avLst/>
            <a:gdLst/>
            <a:ahLst/>
            <a:cxnLst/>
            <a:rect r="r" b="b" t="t" l="l"/>
            <a:pathLst>
              <a:path h="445445" w="445445">
                <a:moveTo>
                  <a:pt x="0" y="0"/>
                </a:moveTo>
                <a:lnTo>
                  <a:pt x="445445" y="0"/>
                </a:lnTo>
                <a:lnTo>
                  <a:pt x="445445" y="445444"/>
                </a:lnTo>
                <a:lnTo>
                  <a:pt x="0" y="445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7892" y="2950019"/>
            <a:ext cx="3868413" cy="3942331"/>
          </a:xfrm>
          <a:custGeom>
            <a:avLst/>
            <a:gdLst/>
            <a:ahLst/>
            <a:cxnLst/>
            <a:rect r="r" b="b" t="t" l="l"/>
            <a:pathLst>
              <a:path h="3942331" w="3868413">
                <a:moveTo>
                  <a:pt x="0" y="0"/>
                </a:moveTo>
                <a:lnTo>
                  <a:pt x="3868413" y="0"/>
                </a:lnTo>
                <a:lnTo>
                  <a:pt x="3868413" y="3942331"/>
                </a:lnTo>
                <a:lnTo>
                  <a:pt x="0" y="3942331"/>
                </a:lnTo>
                <a:lnTo>
                  <a:pt x="0" y="0"/>
                </a:lnTo>
                <a:close/>
              </a:path>
            </a:pathLst>
          </a:custGeom>
          <a:blipFill>
            <a:blip r:embed="rId5">
              <a:alphaModFix amt="31999"/>
            </a:blip>
            <a:stretch>
              <a:fillRect l="0" t="0" r="0" b="0"/>
            </a:stretch>
          </a:blipFill>
        </p:spPr>
      </p:sp>
      <p:sp>
        <p:nvSpPr>
          <p:cNvPr name="TextBox 5" id="5"/>
          <p:cNvSpPr txBox="true"/>
          <p:nvPr/>
        </p:nvSpPr>
        <p:spPr>
          <a:xfrm rot="0">
            <a:off x="1466773" y="4137575"/>
            <a:ext cx="5267534" cy="1360682"/>
          </a:xfrm>
          <a:prstGeom prst="rect">
            <a:avLst/>
          </a:prstGeom>
        </p:spPr>
        <p:txBody>
          <a:bodyPr anchor="t" rtlCol="false" tIns="0" lIns="0" bIns="0" rIns="0">
            <a:spAutoFit/>
          </a:bodyPr>
          <a:lstStyle/>
          <a:p>
            <a:pPr algn="l">
              <a:lnSpc>
                <a:spcPts val="11101"/>
              </a:lnSpc>
              <a:spcBef>
                <a:spcPct val="0"/>
              </a:spcBef>
            </a:pPr>
            <a:r>
              <a:rPr lang="en-US" sz="7929">
                <a:solidFill>
                  <a:srgbClr val="FFFFFF"/>
                </a:solidFill>
                <a:latin typeface="Anton"/>
                <a:ea typeface="Anton"/>
                <a:cs typeface="Anton"/>
                <a:sym typeface="Anton"/>
              </a:rPr>
              <a:t>CONCLUSION</a:t>
            </a:r>
          </a:p>
        </p:txBody>
      </p:sp>
      <p:sp>
        <p:nvSpPr>
          <p:cNvPr name="TextBox 6" id="6"/>
          <p:cNvSpPr txBox="true"/>
          <p:nvPr/>
        </p:nvSpPr>
        <p:spPr>
          <a:xfrm rot="0">
            <a:off x="8654578" y="2682869"/>
            <a:ext cx="8098594" cy="4854587"/>
          </a:xfrm>
          <a:prstGeom prst="rect">
            <a:avLst/>
          </a:prstGeom>
        </p:spPr>
        <p:txBody>
          <a:bodyPr anchor="t" rtlCol="false" tIns="0" lIns="0" bIns="0" rIns="0">
            <a:spAutoFit/>
          </a:bodyPr>
          <a:lstStyle/>
          <a:p>
            <a:pPr algn="l">
              <a:lnSpc>
                <a:spcPts val="3849"/>
              </a:lnSpc>
              <a:spcBef>
                <a:spcPct val="0"/>
              </a:spcBef>
            </a:pPr>
            <a:r>
              <a:rPr lang="en-US" sz="2749">
                <a:solidFill>
                  <a:srgbClr val="FFFFFF"/>
                </a:solidFill>
                <a:latin typeface="Raleway"/>
                <a:ea typeface="Raleway"/>
                <a:cs typeface="Raleway"/>
                <a:sym typeface="Raleway"/>
              </a:rPr>
              <a:t>AI TRiSM plays a vital role in ensuring that artificial intelligence is developed and used in a way that is secure, ethical, and trustworthy. By focusing on transparency, risk management, privacy, and fairness, organizations can build AI systems that are reliable and aligned with human values. As AI continues to grow, adopting AI TRiSM practices will be essential for gaining user trust, meeting regulations, and achieving long-term success with AI technologies.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8032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127342" y="3980122"/>
            <a:ext cx="12327182" cy="2326756"/>
          </a:xfrm>
          <a:custGeom>
            <a:avLst/>
            <a:gdLst/>
            <a:ahLst/>
            <a:cxnLst/>
            <a:rect r="r" b="b" t="t" l="l"/>
            <a:pathLst>
              <a:path h="2326756" w="12327182">
                <a:moveTo>
                  <a:pt x="0" y="0"/>
                </a:moveTo>
                <a:lnTo>
                  <a:pt x="12327182" y="0"/>
                </a:lnTo>
                <a:lnTo>
                  <a:pt x="12327182" y="2326756"/>
                </a:lnTo>
                <a:lnTo>
                  <a:pt x="0" y="2326756"/>
                </a:lnTo>
                <a:lnTo>
                  <a:pt x="0" y="0"/>
                </a:lnTo>
                <a:close/>
              </a:path>
            </a:pathLst>
          </a:custGeom>
          <a:blipFill>
            <a:blip r:embed="rId2"/>
            <a:stretch>
              <a:fillRect l="0" t="0" r="0" b="0"/>
            </a:stretch>
          </a:blipFill>
        </p:spPr>
      </p:sp>
      <p:sp>
        <p:nvSpPr>
          <p:cNvPr name="TextBox 3" id="3"/>
          <p:cNvSpPr txBox="true"/>
          <p:nvPr/>
        </p:nvSpPr>
        <p:spPr>
          <a:xfrm rot="0">
            <a:off x="4398743" y="3761826"/>
            <a:ext cx="9490515" cy="2487123"/>
          </a:xfrm>
          <a:prstGeom prst="rect">
            <a:avLst/>
          </a:prstGeom>
        </p:spPr>
        <p:txBody>
          <a:bodyPr anchor="t" rtlCol="false" tIns="0" lIns="0" bIns="0" rIns="0">
            <a:spAutoFit/>
          </a:bodyPr>
          <a:lstStyle/>
          <a:p>
            <a:pPr algn="ctr">
              <a:lnSpc>
                <a:spcPts val="20350"/>
              </a:lnSpc>
              <a:spcBef>
                <a:spcPct val="0"/>
              </a:spcBef>
            </a:pPr>
            <a:r>
              <a:rPr lang="en-US" sz="14535">
                <a:solidFill>
                  <a:srgbClr val="FFFFFF"/>
                </a:solidFill>
                <a:latin typeface="Anton"/>
                <a:ea typeface="Anton"/>
                <a:cs typeface="Anton"/>
                <a:sym typeface="Anton"/>
              </a:rPr>
              <a:t>THANK YOU!</a:t>
            </a:r>
          </a:p>
        </p:txBody>
      </p:sp>
      <p:sp>
        <p:nvSpPr>
          <p:cNvPr name="Freeform 4" id="4"/>
          <p:cNvSpPr/>
          <p:nvPr/>
        </p:nvSpPr>
        <p:spPr>
          <a:xfrm flipH="true" flipV="true" rot="0">
            <a:off x="16813855" y="9068185"/>
            <a:ext cx="445445" cy="445445"/>
          </a:xfrm>
          <a:custGeom>
            <a:avLst/>
            <a:gdLst/>
            <a:ahLst/>
            <a:cxnLst/>
            <a:rect r="r" b="b" t="t" l="l"/>
            <a:pathLst>
              <a:path h="445445" w="445445">
                <a:moveTo>
                  <a:pt x="445445" y="445444"/>
                </a:moveTo>
                <a:lnTo>
                  <a:pt x="0" y="445444"/>
                </a:lnTo>
                <a:lnTo>
                  <a:pt x="0" y="0"/>
                </a:lnTo>
                <a:lnTo>
                  <a:pt x="445445" y="0"/>
                </a:lnTo>
                <a:lnTo>
                  <a:pt x="445445" y="445444"/>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DAGlJvOKyoc</dc:identifier>
  <dcterms:modified xsi:type="dcterms:W3CDTF">2011-08-01T06:04:30Z</dcterms:modified>
  <cp:revision>1</cp:revision>
  <dc:title>K.RAMAKRISHNAN COLLEGE OF ENGINEERING An Autonomous Institution Permanently affiliated to ANNA University Chennai, Approved by AICTE New Delhi, Accredited By NBA and with A Grade by NAAC</dc:title>
</cp:coreProperties>
</file>